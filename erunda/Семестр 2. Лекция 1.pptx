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315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0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04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3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49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19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54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44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3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96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9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0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3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FA7C5-D9DB-44D1-A5F4-11AC54B42FA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73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CB16-3639-42AD-841E-AC8770E14E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BEBF2-911F-4513-A630-9EBF971AC7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5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структура, представляющая собой набор объектов, в котором некоторые пары объектов в некотором смысле «связаны».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Объекты, называемые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вершинами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(также называемыми 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узлами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точками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Каждая из связанных пар вершин называется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ребром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225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722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Вершины</a:t>
            </a:r>
            <a:r>
              <a:rPr lang="hy-AM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желтые кружки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V = {1,2,3,4,5}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Ребра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черные линии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пары вершин, которые связаны. В этом случае ребра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= {(1, 2), (1, 3), (2, 4),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(2, 5), (3, 4), (4, 5)}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также определяем граф как пару V и E. Если коротко, то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= (V, E).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будем использовать это обозначение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E5BDA5-F8AC-4CB4-8B20-EAD9A528A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770" y="1265115"/>
            <a:ext cx="4532356" cy="311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2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8937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Параллельные вершины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Два или более ребра, соединяющие одну и ту же пару вершин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примере вершины 1 и 2 соединены с 2 ребрами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Петля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Ребро, которое начинается и заканчивается в одной вершине.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E55E28-5F8E-4401-AE19-0E63E8BFF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925" y="1500768"/>
            <a:ext cx="3952875" cy="19282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7AE024-C5BF-4595-8703-D107D8B59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524" y="4180682"/>
            <a:ext cx="1971675" cy="139065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A35ABFAD-9675-4B48-81ED-DB5EBF572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412" y="5255608"/>
            <a:ext cx="1971675" cy="1390650"/>
          </a:xfrm>
          <a:prstGeom prst="rect">
            <a:avLst/>
          </a:prstGeom>
        </p:spPr>
      </p:pic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234B32EE-4DBC-43B8-B560-7D9F9964C3A1}"/>
              </a:ext>
            </a:extLst>
          </p:cNvPr>
          <p:cNvGrpSpPr/>
          <p:nvPr/>
        </p:nvGrpSpPr>
        <p:grpSpPr>
          <a:xfrm>
            <a:off x="4028646" y="5255608"/>
            <a:ext cx="1971675" cy="1390650"/>
            <a:chOff x="5110162" y="5102225"/>
            <a:chExt cx="1971675" cy="1390650"/>
          </a:xfrm>
        </p:grpSpPr>
        <p:pic>
          <p:nvPicPr>
            <p:cNvPr id="10" name="Picture 8">
              <a:extLst>
                <a:ext uri="{FF2B5EF4-FFF2-40B4-BE49-F238E27FC236}">
                  <a16:creationId xmlns:a16="http://schemas.microsoft.com/office/drawing/2014/main" id="{CBA17917-A1EA-4215-BA24-C6752C246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10162" y="5102225"/>
              <a:ext cx="1971675" cy="1390650"/>
            </a:xfrm>
            <a:prstGeom prst="rect">
              <a:avLst/>
            </a:prstGeom>
          </p:spPr>
        </p:pic>
        <p:cxnSp>
          <p:nvCxnSpPr>
            <p:cNvPr id="6" name="Прямая со стрелкой 5">
              <a:extLst>
                <a:ext uri="{FF2B5EF4-FFF2-40B4-BE49-F238E27FC236}">
                  <a16:creationId xmlns:a16="http://schemas.microsoft.com/office/drawing/2014/main" id="{79BA215D-6832-4E32-A204-039DCBE110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02963" y="5505138"/>
              <a:ext cx="386594" cy="1606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4E471ABA-E943-4E4A-8F13-F979FD592ABF}"/>
              </a:ext>
            </a:extLst>
          </p:cNvPr>
          <p:cNvGrpSpPr/>
          <p:nvPr/>
        </p:nvGrpSpPr>
        <p:grpSpPr>
          <a:xfrm>
            <a:off x="5867494" y="5255608"/>
            <a:ext cx="1971675" cy="1390650"/>
            <a:chOff x="5943965" y="5102225"/>
            <a:chExt cx="1971675" cy="1390650"/>
          </a:xfrm>
        </p:grpSpPr>
        <p:pic>
          <p:nvPicPr>
            <p:cNvPr id="14" name="Picture 8">
              <a:extLst>
                <a:ext uri="{FF2B5EF4-FFF2-40B4-BE49-F238E27FC236}">
                  <a16:creationId xmlns:a16="http://schemas.microsoft.com/office/drawing/2014/main" id="{7844287C-79D4-4D34-B58E-F0F9D1E21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3965" y="5102225"/>
              <a:ext cx="1971675" cy="1390650"/>
            </a:xfrm>
            <a:prstGeom prst="rect">
              <a:avLst/>
            </a:prstGeom>
          </p:spPr>
        </p:pic>
        <p:cxnSp>
          <p:nvCxnSpPr>
            <p:cNvPr id="15" name="Прямая со стрелкой 14">
              <a:extLst>
                <a:ext uri="{FF2B5EF4-FFF2-40B4-BE49-F238E27FC236}">
                  <a16:creationId xmlns:a16="http://schemas.microsoft.com/office/drawing/2014/main" id="{2CF5C403-130A-4783-9076-F8BD84EB02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1787" y="5939852"/>
              <a:ext cx="412230" cy="1349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51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Типы графов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0973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ребра в графе ориентированы, т. е. указывают только в одном направлении, граф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называется ориентированным графом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орграфом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ребра в графе не имеют направления, граф называется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неориентированным графом.</a:t>
            </a:r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0E2AF0-E313-4282-B807-3D03A2682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020" y="659863"/>
            <a:ext cx="4556497" cy="29859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4F3721-8230-4B0D-9595-0FE32285E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155" y="3735516"/>
            <a:ext cx="4356228" cy="298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16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0483"/>
            <a:ext cx="5809735" cy="37064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Граф, в котором каждое ребро имеет числовой «вес», называется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взвешенным графом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47030-39E9-40D1-B5CB-7FFEDA2FF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935" y="1350728"/>
            <a:ext cx="4838700" cy="3886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FF752B4-C135-4C09-9B3B-08C6CECA3003}"/>
              </a:ext>
            </a:extLst>
          </p:cNvPr>
          <p:cNvSpPr txBox="1">
            <a:spLocks/>
          </p:cNvSpPr>
          <p:nvPr/>
        </p:nvSpPr>
        <p:spPr>
          <a:xfrm>
            <a:off x="912042" y="41069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Типы графов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795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Терминология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8081" cy="4351338"/>
          </a:xfrm>
        </p:spPr>
        <p:txBody>
          <a:bodyPr>
            <a:normAutofit lnSpcReduction="10000"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Вершины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называются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смежными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если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соединены некоторым ребром.</a:t>
            </a:r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ребер, инцидентных вершине, называется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степенью вершины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ru-RU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deg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(v)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Вершина инцидентна ребру, если эта вершина является одной из двух вершин, которые соединяет ребро. Например, град(3) = 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Листовая вершина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вершина 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(v) = 1, например, 5 — листовая вершина.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Изолированная вершина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вершина 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(v) = 0 , например, 6 — изолированная вершина.</a:t>
            </a:r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BC27D9-A359-4FBA-883F-595F18454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025" y="1309302"/>
            <a:ext cx="3152775" cy="1257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D6A6D7-CCB7-4AF7-9AA5-10F0EBBF3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144" y="2776537"/>
            <a:ext cx="4162425" cy="3762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1102A4-A86D-4EB9-8F6F-914E250E1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5285025"/>
            <a:ext cx="9525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26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Лемма о рукопожатии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47C-3D4F-42E6-9BD5-EA99DA4D36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29325"/>
                <a:ext cx="6114535" cy="414763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Лемма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∙|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𝝐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  <m:sup/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𝒅𝒆𝒈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|E|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количество ребер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Другими словами, сумма степени всех вершин равна количеству ребер, умноженному на 2. </a:t>
                </a:r>
                <a:endParaRPr lang="hy-AM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hy-AM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47C-3D4F-42E6-9BD5-EA99DA4D3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29325"/>
                <a:ext cx="6114535" cy="4147637"/>
              </a:xfrm>
              <a:blipFill>
                <a:blip r:embed="rId2"/>
                <a:stretch>
                  <a:fillRect l="-399" t="-205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DD6A6D7-CCB7-4AF7-9AA5-10F0EBBF3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814" y="1606669"/>
            <a:ext cx="4162425" cy="3762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1102A4-A86D-4EB9-8F6F-914E250E1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735" y="4081056"/>
            <a:ext cx="9525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24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Терминология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47C-3D4F-42E6-9BD5-EA99DA4D36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518189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Граф называется </a:t>
                </a: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связным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если в нем </a:t>
                </a:r>
                <a:r>
                  <a:rPr lang="ru-RU" sz="24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нет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вершины с </a:t>
                </a:r>
                <a:r>
                  <a:rPr 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deg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Каждый связный подграф называется компонентом.</a:t>
                </a:r>
                <a:endParaRPr lang="hy-AM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Путь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графе — это последовательность ребер, соединяющая последовательность вершин.</a:t>
                </a:r>
              </a:p>
              <a:p>
                <a:pPr lvl="1"/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Например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4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5</a:t>
                </a:r>
              </a:p>
              <a:p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Цикл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это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путь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который начинается и заканчивается в одной и той же вершине.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Например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3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</a:t>
                </a:r>
              </a:p>
              <a:p>
                <a:endParaRPr lang="hy-AM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hy-AM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47C-3D4F-42E6-9BD5-EA99DA4D3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518189" cy="4351338"/>
              </a:xfrm>
              <a:blipFill>
                <a:blip r:embed="rId2"/>
                <a:stretch>
                  <a:fillRect l="-1310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DD6A6D7-CCB7-4AF7-9AA5-10F0EBBF3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814" y="1606669"/>
            <a:ext cx="4162425" cy="3762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1102A4-A86D-4EB9-8F6F-914E250E1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735" y="4081056"/>
            <a:ext cx="9525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884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CB16-3639-42AD-841E-AC8770E14E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Графическое представление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BEBF2-911F-4513-A630-9EBF971AC7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495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829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Нужно представить график в компьютере.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обычных вида представления</a:t>
            </a:r>
            <a:r>
              <a:rPr lang="hy-A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։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ребер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 смежности</a:t>
            </a: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смежности</a:t>
            </a:r>
          </a:p>
          <a:p>
            <a:pPr lvl="1"/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инцидентности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055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Представление. Список ребер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829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Простое перечисление ребер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этого примера список узлов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 2}, {2, 1}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 3}, {3, 1}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 3}, {3, 2}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 5}, {5, 2}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{3, 4}, {4, 3}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использовать 2 массива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использоваться массив пар.</a:t>
            </a:r>
            <a:endParaRPr lang="hy-A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3B13D6-FFA0-49C2-9506-E0FF53BBE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814" y="1606669"/>
            <a:ext cx="4162425" cy="3762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37425B-DA74-4425-8BB6-5CFF788CF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735" y="4081056"/>
            <a:ext cx="952500" cy="933450"/>
          </a:xfrm>
          <a:prstGeom prst="rect">
            <a:avLst/>
          </a:prstGeom>
        </p:spPr>
      </p:pic>
      <p:sp>
        <p:nvSpPr>
          <p:cNvPr id="7" name="Text Box 102">
            <a:extLst>
              <a:ext uri="{FF2B5EF4-FFF2-40B4-BE49-F238E27FC236}">
                <a16:creationId xmlns:a16="http://schemas.microsoft.com/office/drawing/2014/main" id="{631E3BF6-19D2-4C28-BF8E-33F877A99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503" y="5369044"/>
            <a:ext cx="942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 dirty="0"/>
              <a:t>Удобно:</a:t>
            </a:r>
          </a:p>
        </p:txBody>
      </p:sp>
      <p:sp>
        <p:nvSpPr>
          <p:cNvPr id="8" name="Text Box 103">
            <a:extLst>
              <a:ext uri="{FF2B5EF4-FFF2-40B4-BE49-F238E27FC236}">
                <a16:creationId xmlns:a16="http://schemas.microsoft.com/office/drawing/2014/main" id="{B1426693-781E-4B01-88DF-2A4376D3A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428" y="5789731"/>
            <a:ext cx="2668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/>
              <a:t> Добавлять и удалять ребра</a:t>
            </a:r>
          </a:p>
        </p:txBody>
      </p:sp>
      <p:sp>
        <p:nvSpPr>
          <p:cNvPr id="9" name="Text Box 104">
            <a:extLst>
              <a:ext uri="{FF2B5EF4-FFF2-40B4-BE49-F238E27FC236}">
                <a16:creationId xmlns:a16="http://schemas.microsoft.com/office/drawing/2014/main" id="{9D822622-7541-453B-B5C6-4D21B8028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066" y="6115169"/>
            <a:ext cx="43053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/>
              <a:t> Упорядочивать ребра по возрастанию нагрузки</a:t>
            </a:r>
          </a:p>
        </p:txBody>
      </p:sp>
      <p:sp>
        <p:nvSpPr>
          <p:cNvPr id="10" name="Text Box 105">
            <a:extLst>
              <a:ext uri="{FF2B5EF4-FFF2-40B4-BE49-F238E27FC236}">
                <a16:creationId xmlns:a16="http://schemas.microsoft.com/office/drawing/2014/main" id="{068159DE-C8C1-4193-8D8D-6A3B29081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689" y="5389681"/>
            <a:ext cx="1174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 dirty="0"/>
              <a:t>Неудобно:</a:t>
            </a:r>
          </a:p>
        </p:txBody>
      </p:sp>
      <p:sp>
        <p:nvSpPr>
          <p:cNvPr id="11" name="Text Box 106">
            <a:extLst>
              <a:ext uri="{FF2B5EF4-FFF2-40B4-BE49-F238E27FC236}">
                <a16:creationId xmlns:a16="http://schemas.microsoft.com/office/drawing/2014/main" id="{9E7362DB-6612-449F-B5FA-8AFA08AE2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614" y="5810369"/>
            <a:ext cx="36941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/>
              <a:t> Определять смежность вершин и ребер</a:t>
            </a:r>
          </a:p>
        </p:txBody>
      </p:sp>
      <p:sp>
        <p:nvSpPr>
          <p:cNvPr id="12" name="Text Box 107">
            <a:extLst>
              <a:ext uri="{FF2B5EF4-FFF2-40B4-BE49-F238E27FC236}">
                <a16:creationId xmlns:a16="http://schemas.microsoft.com/office/drawing/2014/main" id="{B2EAE3DF-5B6D-47CD-9E8F-EB00A717C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252" y="6146919"/>
            <a:ext cx="4284662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/>
              <a:t> Осуществлять перебор инцидентных заданной</a:t>
            </a:r>
            <a:br>
              <a:rPr lang="ru-RU" altLang="ru-RU" sz="1400"/>
            </a:br>
            <a:r>
              <a:rPr lang="ru-RU" altLang="ru-RU" sz="1400"/>
              <a:t>    вершине ребер</a:t>
            </a:r>
          </a:p>
        </p:txBody>
      </p:sp>
      <p:sp>
        <p:nvSpPr>
          <p:cNvPr id="13" name="Text Box 108">
            <a:extLst>
              <a:ext uri="{FF2B5EF4-FFF2-40B4-BE49-F238E27FC236}">
                <a16:creationId xmlns:a16="http://schemas.microsoft.com/office/drawing/2014/main" id="{C61BC246-D5DA-44CE-8943-BE2E1E918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066" y="6459656"/>
            <a:ext cx="3921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 dirty="0"/>
              <a:t> Представлять сильно разреженные графы</a:t>
            </a:r>
          </a:p>
        </p:txBody>
      </p:sp>
    </p:spTree>
    <p:extLst>
      <p:ext uri="{BB962C8B-B14F-4D97-AF65-F5344CB8AC3E}">
        <p14:creationId xmlns:p14="http://schemas.microsoft.com/office/powerpoint/2010/main" val="270187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3B13D6-FFA0-49C2-9506-E0FF53BBE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611" y="1668462"/>
            <a:ext cx="4162425" cy="37623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Представление: Список смежности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47C-3D4F-42E6-9BD5-EA99DA4D36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331" y="1668462"/>
                <a:ext cx="8052706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Хранить для каждой вершины все ее соседние вершины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0" lvl="1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этого примера список смежности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{2, 3} 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{1, 3, 5}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{1, 2, 4}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{3}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{2}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{}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Можно использовать массив массивов.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Карту можно использовать.</a:t>
                </a:r>
                <a:endParaRPr lang="hy-AM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47C-3D4F-42E6-9BD5-EA99DA4D3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331" y="1668462"/>
                <a:ext cx="8052706" cy="4351338"/>
              </a:xfrm>
              <a:blipFill>
                <a:blip r:embed="rId3"/>
                <a:stretch>
                  <a:fillRect l="-1136" t="-196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E37425B-DA74-4425-8BB6-5CFF788CF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735" y="4081056"/>
            <a:ext cx="952500" cy="933450"/>
          </a:xfrm>
          <a:prstGeom prst="rect">
            <a:avLst/>
          </a:prstGeom>
        </p:spPr>
      </p:pic>
      <p:sp>
        <p:nvSpPr>
          <p:cNvPr id="7" name="Text Box 131">
            <a:extLst>
              <a:ext uri="{FF2B5EF4-FFF2-40B4-BE49-F238E27FC236}">
                <a16:creationId xmlns:a16="http://schemas.microsoft.com/office/drawing/2014/main" id="{9F6B2FAF-47D4-48C3-A4C3-124524D88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437" y="5430837"/>
            <a:ext cx="942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Удобно:</a:t>
            </a:r>
          </a:p>
        </p:txBody>
      </p:sp>
      <p:sp>
        <p:nvSpPr>
          <p:cNvPr id="8" name="Text Box 132">
            <a:extLst>
              <a:ext uri="{FF2B5EF4-FFF2-40B4-BE49-F238E27FC236}">
                <a16:creationId xmlns:a16="http://schemas.microsoft.com/office/drawing/2014/main" id="{93C06195-4002-4095-B14F-08A8C56FE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5362" y="5851524"/>
            <a:ext cx="33893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/>
              <a:t> Искать вершины, смежные с данной</a:t>
            </a:r>
          </a:p>
        </p:txBody>
      </p:sp>
      <p:sp>
        <p:nvSpPr>
          <p:cNvPr id="9" name="Text Box 133">
            <a:extLst>
              <a:ext uri="{FF2B5EF4-FFF2-40B4-BE49-F238E27FC236}">
                <a16:creationId xmlns:a16="http://schemas.microsoft.com/office/drawing/2014/main" id="{2A7DFF10-21F0-4856-8612-DA057FA1A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000" y="6176962"/>
            <a:ext cx="27670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/>
              <a:t> Добавлять ребра и вершины</a:t>
            </a:r>
          </a:p>
        </p:txBody>
      </p:sp>
      <p:sp>
        <p:nvSpPr>
          <p:cNvPr id="10" name="Text Box 134">
            <a:extLst>
              <a:ext uri="{FF2B5EF4-FFF2-40B4-BE49-F238E27FC236}">
                <a16:creationId xmlns:a16="http://schemas.microsoft.com/office/drawing/2014/main" id="{2648B9AC-8009-4322-A7FA-BF82F9FA4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3485" y="5430837"/>
            <a:ext cx="1174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Неудобно:</a:t>
            </a:r>
          </a:p>
        </p:txBody>
      </p:sp>
      <p:sp>
        <p:nvSpPr>
          <p:cNvPr id="11" name="Text Box 135">
            <a:extLst>
              <a:ext uri="{FF2B5EF4-FFF2-40B4-BE49-F238E27FC236}">
                <a16:creationId xmlns:a16="http://schemas.microsoft.com/office/drawing/2014/main" id="{1D18EC2F-54A0-4C31-AB99-FA8FD97AE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1410" y="5851525"/>
            <a:ext cx="25463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/>
              <a:t> Проверять наличие ребра</a:t>
            </a:r>
          </a:p>
        </p:txBody>
      </p:sp>
      <p:sp>
        <p:nvSpPr>
          <p:cNvPr id="12" name="Text Box 136">
            <a:extLst>
              <a:ext uri="{FF2B5EF4-FFF2-40B4-BE49-F238E27FC236}">
                <a16:creationId xmlns:a16="http://schemas.microsoft.com/office/drawing/2014/main" id="{F191106F-C196-4B68-B955-F329F2221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2048" y="6188075"/>
            <a:ext cx="25669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/>
              <a:t> Удалять ребра и вершины</a:t>
            </a:r>
          </a:p>
        </p:txBody>
      </p:sp>
      <p:sp>
        <p:nvSpPr>
          <p:cNvPr id="13" name="Text Box 137">
            <a:extLst>
              <a:ext uri="{FF2B5EF4-FFF2-40B4-BE49-F238E27FC236}">
                <a16:creationId xmlns:a16="http://schemas.microsoft.com/office/drawing/2014/main" id="{80FBA698-8361-451F-9C45-55EB01F56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000" y="6521449"/>
            <a:ext cx="33496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 dirty="0"/>
              <a:t> Работать с разреженными графами</a:t>
            </a:r>
          </a:p>
        </p:txBody>
      </p:sp>
    </p:spTree>
    <p:extLst>
      <p:ext uri="{BB962C8B-B14F-4D97-AF65-F5344CB8AC3E}">
        <p14:creationId xmlns:p14="http://schemas.microsoft.com/office/powerpoint/2010/main" val="182230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</a:t>
            </a:r>
            <a:r>
              <a:rPr lang="hy-AM" dirty="0">
                <a:latin typeface="Times New Roman" panose="02020603050405020304" pitchFamily="18" charset="0"/>
                <a:cs typeface="Times New Roman" panose="02020603050405020304" pitchFamily="18" charset="0"/>
              </a:rPr>
              <a:t>։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 смежности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883613" cy="400243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между вершинами </a:t>
            </a:r>
            <a:r>
              <a:rPr lang="ru-RU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есть ребро, то (</a:t>
            </a:r>
            <a:r>
              <a:rPr lang="ru-RU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)-я матрица устанавливается в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в противном случае - в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этого примера матрица смежности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использовать массив массивов.</a:t>
            </a:r>
            <a:endParaRPr lang="hy-A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3B13D6-FFA0-49C2-9506-E0FF53BBE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814" y="1606669"/>
            <a:ext cx="4162425" cy="3762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37425B-DA74-4425-8BB6-5CFF788CF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735" y="4081056"/>
            <a:ext cx="952500" cy="933450"/>
          </a:xfrm>
          <a:prstGeom prst="rect">
            <a:avLst/>
          </a:prstGeo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ABB7F6D-7EC6-47E0-908E-588187FE4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064372"/>
              </p:ext>
            </p:extLst>
          </p:nvPr>
        </p:nvGraphicFramePr>
        <p:xfrm>
          <a:off x="3110593" y="2914650"/>
          <a:ext cx="2865667" cy="2483656"/>
        </p:xfrm>
        <a:graphic>
          <a:graphicData uri="http://schemas.openxmlformats.org/drawingml/2006/table">
            <a:tbl>
              <a:tblPr firstRow="1" firstCol="1">
                <a:tableStyleId>{5940675A-B579-460E-94D1-54222C63F5DA}</a:tableStyleId>
              </a:tblPr>
              <a:tblGrid>
                <a:gridCol w="409381">
                  <a:extLst>
                    <a:ext uri="{9D8B030D-6E8A-4147-A177-3AD203B41FA5}">
                      <a16:colId xmlns:a16="http://schemas.microsoft.com/office/drawing/2014/main" val="3134942860"/>
                    </a:ext>
                  </a:extLst>
                </a:gridCol>
                <a:gridCol w="409381">
                  <a:extLst>
                    <a:ext uri="{9D8B030D-6E8A-4147-A177-3AD203B41FA5}">
                      <a16:colId xmlns:a16="http://schemas.microsoft.com/office/drawing/2014/main" val="3701320106"/>
                    </a:ext>
                  </a:extLst>
                </a:gridCol>
                <a:gridCol w="409381">
                  <a:extLst>
                    <a:ext uri="{9D8B030D-6E8A-4147-A177-3AD203B41FA5}">
                      <a16:colId xmlns:a16="http://schemas.microsoft.com/office/drawing/2014/main" val="2928918456"/>
                    </a:ext>
                  </a:extLst>
                </a:gridCol>
                <a:gridCol w="409381">
                  <a:extLst>
                    <a:ext uri="{9D8B030D-6E8A-4147-A177-3AD203B41FA5}">
                      <a16:colId xmlns:a16="http://schemas.microsoft.com/office/drawing/2014/main" val="3700110030"/>
                    </a:ext>
                  </a:extLst>
                </a:gridCol>
                <a:gridCol w="409381">
                  <a:extLst>
                    <a:ext uri="{9D8B030D-6E8A-4147-A177-3AD203B41FA5}">
                      <a16:colId xmlns:a16="http://schemas.microsoft.com/office/drawing/2014/main" val="1764340423"/>
                    </a:ext>
                  </a:extLst>
                </a:gridCol>
                <a:gridCol w="409381">
                  <a:extLst>
                    <a:ext uri="{9D8B030D-6E8A-4147-A177-3AD203B41FA5}">
                      <a16:colId xmlns:a16="http://schemas.microsoft.com/office/drawing/2014/main" val="2129014550"/>
                    </a:ext>
                  </a:extLst>
                </a:gridCol>
                <a:gridCol w="409381">
                  <a:extLst>
                    <a:ext uri="{9D8B030D-6E8A-4147-A177-3AD203B41FA5}">
                      <a16:colId xmlns:a16="http://schemas.microsoft.com/office/drawing/2014/main" val="3314570022"/>
                    </a:ext>
                  </a:extLst>
                </a:gridCol>
              </a:tblGrid>
              <a:tr h="354808">
                <a:tc>
                  <a:txBody>
                    <a:bodyPr/>
                    <a:lstStyle/>
                    <a:p>
                      <a:pPr algn="ctr"/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2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3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4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5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6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584012"/>
                  </a:ext>
                </a:extLst>
              </a:tr>
              <a:tr h="35480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extLst>
                  <a:ext uri="{0D108BD9-81ED-4DB2-BD59-A6C34878D82A}">
                    <a16:rowId xmlns:a16="http://schemas.microsoft.com/office/drawing/2014/main" val="1980326726"/>
                  </a:ext>
                </a:extLst>
              </a:tr>
              <a:tr h="35480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2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extLst>
                  <a:ext uri="{0D108BD9-81ED-4DB2-BD59-A6C34878D82A}">
                    <a16:rowId xmlns:a16="http://schemas.microsoft.com/office/drawing/2014/main" val="3144900697"/>
                  </a:ext>
                </a:extLst>
              </a:tr>
              <a:tr h="35480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3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extLst>
                  <a:ext uri="{0D108BD9-81ED-4DB2-BD59-A6C34878D82A}">
                    <a16:rowId xmlns:a16="http://schemas.microsoft.com/office/drawing/2014/main" val="3432064799"/>
                  </a:ext>
                </a:extLst>
              </a:tr>
              <a:tr h="35480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4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extLst>
                  <a:ext uri="{0D108BD9-81ED-4DB2-BD59-A6C34878D82A}">
                    <a16:rowId xmlns:a16="http://schemas.microsoft.com/office/drawing/2014/main" val="1674256202"/>
                  </a:ext>
                </a:extLst>
              </a:tr>
              <a:tr h="35480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5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extLst>
                  <a:ext uri="{0D108BD9-81ED-4DB2-BD59-A6C34878D82A}">
                    <a16:rowId xmlns:a16="http://schemas.microsoft.com/office/drawing/2014/main" val="2705697864"/>
                  </a:ext>
                </a:extLst>
              </a:tr>
              <a:tr h="354808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6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sz="1700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marL="85947" marR="85947" marT="42973" marB="42973"/>
                </a:tc>
                <a:extLst>
                  <a:ext uri="{0D108BD9-81ED-4DB2-BD59-A6C34878D82A}">
                    <a16:rowId xmlns:a16="http://schemas.microsoft.com/office/drawing/2014/main" val="3411093782"/>
                  </a:ext>
                </a:extLst>
              </a:tr>
            </a:tbl>
          </a:graphicData>
        </a:graphic>
      </p:graphicFrame>
      <p:sp>
        <p:nvSpPr>
          <p:cNvPr id="8" name="Text Box 585">
            <a:extLst>
              <a:ext uri="{FF2B5EF4-FFF2-40B4-BE49-F238E27FC236}">
                <a16:creationId xmlns:a16="http://schemas.microsoft.com/office/drawing/2014/main" id="{F921C84C-C084-47BD-BE64-A4B1DA63D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443" y="5743921"/>
            <a:ext cx="942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 dirty="0"/>
              <a:t>Удобно:</a:t>
            </a:r>
          </a:p>
        </p:txBody>
      </p:sp>
      <p:sp>
        <p:nvSpPr>
          <p:cNvPr id="9" name="Text Box 586">
            <a:extLst>
              <a:ext uri="{FF2B5EF4-FFF2-40B4-BE49-F238E27FC236}">
                <a16:creationId xmlns:a16="http://schemas.microsoft.com/office/drawing/2014/main" id="{163B72E9-893A-4FE5-AFB3-EF26F8E23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3368" y="6164608"/>
            <a:ext cx="2668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/>
              <a:t> Добавлять и удалять ребра</a:t>
            </a:r>
          </a:p>
        </p:txBody>
      </p:sp>
      <p:sp>
        <p:nvSpPr>
          <p:cNvPr id="10" name="Text Box 587">
            <a:extLst>
              <a:ext uri="{FF2B5EF4-FFF2-40B4-BE49-F238E27FC236}">
                <a16:creationId xmlns:a16="http://schemas.microsoft.com/office/drawing/2014/main" id="{29E1D6E4-9A99-4ED4-B1BA-DC66F020A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006" y="6490046"/>
            <a:ext cx="28813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 dirty="0"/>
              <a:t> Проверять смежность вершин</a:t>
            </a:r>
          </a:p>
        </p:txBody>
      </p:sp>
      <p:sp>
        <p:nvSpPr>
          <p:cNvPr id="11" name="Text Box 588">
            <a:extLst>
              <a:ext uri="{FF2B5EF4-FFF2-40B4-BE49-F238E27FC236}">
                <a16:creationId xmlns:a16="http://schemas.microsoft.com/office/drawing/2014/main" id="{0F93A095-1D09-46D5-BEA6-46801FEF0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9840" y="5743920"/>
            <a:ext cx="1174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Неудобно:</a:t>
            </a:r>
          </a:p>
        </p:txBody>
      </p:sp>
      <p:sp>
        <p:nvSpPr>
          <p:cNvPr id="12" name="Text Box 589">
            <a:extLst>
              <a:ext uri="{FF2B5EF4-FFF2-40B4-BE49-F238E27FC236}">
                <a16:creationId xmlns:a16="http://schemas.microsoft.com/office/drawing/2014/main" id="{A88E8255-B2D9-429D-A7A8-9A68F073E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65" y="6164608"/>
            <a:ext cx="29352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/>
              <a:t> Добавлять и удалять вершины</a:t>
            </a:r>
          </a:p>
        </p:txBody>
      </p:sp>
      <p:sp>
        <p:nvSpPr>
          <p:cNvPr id="13" name="Text Box 590">
            <a:extLst>
              <a:ext uri="{FF2B5EF4-FFF2-40B4-BE49-F238E27FC236}">
                <a16:creationId xmlns:a16="http://schemas.microsoft.com/office/drawing/2014/main" id="{E316D0C0-FE31-4496-B12F-7BF881A80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8403" y="6501158"/>
            <a:ext cx="33496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/>
              <a:t> Работать с разреженными графами</a:t>
            </a:r>
          </a:p>
        </p:txBody>
      </p:sp>
    </p:spTree>
    <p:extLst>
      <p:ext uri="{BB962C8B-B14F-4D97-AF65-F5344CB8AC3E}">
        <p14:creationId xmlns:p14="http://schemas.microsoft.com/office/powerpoint/2010/main" val="349316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Представление. Ориентированный граф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086599" cy="4426894"/>
          </a:xfrm>
        </p:spPr>
        <p:txBody>
          <a:bodyPr>
            <a:normAutofit fontScale="62500" lnSpcReduction="20000"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случае ориентированного графа представление остается прежним, но ребра добавляются только в одном направлении.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матрица соединений для ориентированного графа будет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Обратите внимание, что для неориентированного графа (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всегда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равно (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В случае направленного такого правила нет.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hy-AM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ABB7F6D-7EC6-47E0-908E-588187FE4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030450"/>
              </p:ext>
            </p:extLst>
          </p:nvPr>
        </p:nvGraphicFramePr>
        <p:xfrm>
          <a:off x="3558081" y="2936148"/>
          <a:ext cx="3039085" cy="2595880"/>
        </p:xfrm>
        <a:graphic>
          <a:graphicData uri="http://schemas.openxmlformats.org/drawingml/2006/table">
            <a:tbl>
              <a:tblPr firstRow="1" firstCol="1">
                <a:tableStyleId>{5940675A-B579-460E-94D1-54222C63F5DA}</a:tableStyleId>
              </a:tblPr>
              <a:tblGrid>
                <a:gridCol w="434155">
                  <a:extLst>
                    <a:ext uri="{9D8B030D-6E8A-4147-A177-3AD203B41FA5}">
                      <a16:colId xmlns:a16="http://schemas.microsoft.com/office/drawing/2014/main" val="3134942860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3701320106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2928918456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3700110030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1764340423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2129014550"/>
                    </a:ext>
                  </a:extLst>
                </a:gridCol>
                <a:gridCol w="434155">
                  <a:extLst>
                    <a:ext uri="{9D8B030D-6E8A-4147-A177-3AD203B41FA5}">
                      <a16:colId xmlns:a16="http://schemas.microsoft.com/office/drawing/2014/main" val="3314570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2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3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4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5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6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584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326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2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90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3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1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064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4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256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5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697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6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accent1">
                                <a:lumMod val="50000"/>
                              </a:schemeClr>
                            </a:solidFill>
                          </a:ln>
                        </a:rPr>
                        <a:t>0</a:t>
                      </a:r>
                      <a:endParaRPr lang="en-US" dirty="0">
                        <a:ln>
                          <a:solidFill>
                            <a:schemeClr val="accent1">
                              <a:lumMod val="50000"/>
                            </a:schemeClr>
                          </a:solidFill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093782"/>
                  </a:ext>
                </a:extLst>
              </a:tr>
            </a:tbl>
          </a:graphicData>
        </a:graphic>
      </p:graphicFrame>
      <p:pic>
        <p:nvPicPr>
          <p:cNvPr id="10" name="Picture 4">
            <a:extLst>
              <a:ext uri="{FF2B5EF4-FFF2-40B4-BE49-F238E27FC236}">
                <a16:creationId xmlns:a16="http://schemas.microsoft.com/office/drawing/2014/main" id="{5D3B13D6-FFA0-49C2-9506-E0FF53BBE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814" y="1606669"/>
            <a:ext cx="4162425" cy="3762375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8F82B72E-F611-4EFB-81B2-C4AE4C565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698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5F8EE851-469D-45D9-8F4A-10905EC47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698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814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граф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</a:t>
            </a:r>
            <a:r>
              <a:rPr lang="hy-AM" dirty="0">
                <a:latin typeface="Times New Roman" panose="02020603050405020304" pitchFamily="18" charset="0"/>
                <a:cs typeface="Times New Roman" panose="02020603050405020304" pitchFamily="18" charset="0"/>
              </a:rPr>
              <a:t>։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инцидентности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585">
            <a:extLst>
              <a:ext uri="{FF2B5EF4-FFF2-40B4-BE49-F238E27FC236}">
                <a16:creationId xmlns:a16="http://schemas.microsoft.com/office/drawing/2014/main" id="{F921C84C-C084-47BD-BE64-A4B1DA63D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443" y="5743921"/>
            <a:ext cx="942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 dirty="0"/>
              <a:t>Удобно:</a:t>
            </a:r>
          </a:p>
        </p:txBody>
      </p:sp>
      <p:sp>
        <p:nvSpPr>
          <p:cNvPr id="11" name="Text Box 588">
            <a:extLst>
              <a:ext uri="{FF2B5EF4-FFF2-40B4-BE49-F238E27FC236}">
                <a16:creationId xmlns:a16="http://schemas.microsoft.com/office/drawing/2014/main" id="{0F93A095-1D09-46D5-BEA6-46801FEF0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9840" y="5743920"/>
            <a:ext cx="1174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Неудобно:</a:t>
            </a:r>
          </a:p>
        </p:txBody>
      </p:sp>
      <p:graphicFrame>
        <p:nvGraphicFramePr>
          <p:cNvPr id="27" name="Group 156">
            <a:extLst>
              <a:ext uri="{FF2B5EF4-FFF2-40B4-BE49-F238E27FC236}">
                <a16:creationId xmlns:a16="http://schemas.microsoft.com/office/drawing/2014/main" id="{0588A82F-DBCA-415E-AA33-729B6E1F2B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815063"/>
              </p:ext>
            </p:extLst>
          </p:nvPr>
        </p:nvGraphicFramePr>
        <p:xfrm>
          <a:off x="2118224" y="2375245"/>
          <a:ext cx="4294187" cy="3092452"/>
        </p:xfrm>
        <a:graphic>
          <a:graphicData uri="http://schemas.openxmlformats.org/drawingml/2006/table">
            <a:tbl>
              <a:tblPr/>
              <a:tblGrid>
                <a:gridCol w="428625">
                  <a:extLst>
                    <a:ext uri="{9D8B030D-6E8A-4147-A177-3AD203B41FA5}">
                      <a16:colId xmlns:a16="http://schemas.microsoft.com/office/drawing/2014/main" val="989580339"/>
                    </a:ext>
                  </a:extLst>
                </a:gridCol>
                <a:gridCol w="430212">
                  <a:extLst>
                    <a:ext uri="{9D8B030D-6E8A-4147-A177-3AD203B41FA5}">
                      <a16:colId xmlns:a16="http://schemas.microsoft.com/office/drawing/2014/main" val="2384085170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63027632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3608428745"/>
                    </a:ext>
                  </a:extLst>
                </a:gridCol>
                <a:gridCol w="430212">
                  <a:extLst>
                    <a:ext uri="{9D8B030D-6E8A-4147-A177-3AD203B41FA5}">
                      <a16:colId xmlns:a16="http://schemas.microsoft.com/office/drawing/2014/main" val="177754749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366675750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467682552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1714653088"/>
                    </a:ext>
                  </a:extLst>
                </a:gridCol>
                <a:gridCol w="430212">
                  <a:extLst>
                    <a:ext uri="{9D8B030D-6E8A-4147-A177-3AD203B41FA5}">
                      <a16:colId xmlns:a16="http://schemas.microsoft.com/office/drawing/2014/main" val="371754181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357996999"/>
                    </a:ext>
                  </a:extLst>
                </a:gridCol>
              </a:tblGrid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201106"/>
                  </a:ext>
                </a:extLst>
              </a:tr>
              <a:tr h="385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667911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74899"/>
                  </a:ext>
                </a:extLst>
              </a:tr>
              <a:tr h="385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105558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92820"/>
                  </a:ext>
                </a:extLst>
              </a:tr>
              <a:tr h="385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22436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963213"/>
                  </a:ext>
                </a:extLst>
              </a:tr>
              <a:tr h="385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043931"/>
                  </a:ext>
                </a:extLst>
              </a:tr>
            </a:tbl>
          </a:graphicData>
        </a:graphic>
      </p:graphicFrame>
      <p:sp>
        <p:nvSpPr>
          <p:cNvPr id="28" name="Text Box 147">
            <a:extLst>
              <a:ext uri="{FF2B5EF4-FFF2-40B4-BE49-F238E27FC236}">
                <a16:creationId xmlns:a16="http://schemas.microsoft.com/office/drawing/2014/main" id="{CC12711C-FE94-4778-B3B0-A5CCE589A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8224" y="1906933"/>
            <a:ext cx="432041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400" dirty="0"/>
              <a:t>1-2    1-4     1-6     2-6     2-7     3-5     3-8     4-6     5-8     6-7</a:t>
            </a:r>
          </a:p>
        </p:txBody>
      </p:sp>
      <p:sp>
        <p:nvSpPr>
          <p:cNvPr id="29" name="Text Box 148">
            <a:extLst>
              <a:ext uri="{FF2B5EF4-FFF2-40B4-BE49-F238E27FC236}">
                <a16:creationId xmlns:a16="http://schemas.microsoft.com/office/drawing/2014/main" id="{EC3B12A3-3C8B-4808-8632-0D2EB7CC3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861" y="244668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200"/>
              <a:t>1</a:t>
            </a:r>
          </a:p>
        </p:txBody>
      </p:sp>
      <p:sp>
        <p:nvSpPr>
          <p:cNvPr id="30" name="Text Box 149">
            <a:extLst>
              <a:ext uri="{FF2B5EF4-FFF2-40B4-BE49-F238E27FC236}">
                <a16:creationId xmlns:a16="http://schemas.microsoft.com/office/drawing/2014/main" id="{33002692-06D9-40C8-9C57-C72859750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861" y="282133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200"/>
              <a:t>2</a:t>
            </a:r>
          </a:p>
        </p:txBody>
      </p:sp>
      <p:sp>
        <p:nvSpPr>
          <p:cNvPr id="31" name="Text Box 150">
            <a:extLst>
              <a:ext uri="{FF2B5EF4-FFF2-40B4-BE49-F238E27FC236}">
                <a16:creationId xmlns:a16="http://schemas.microsoft.com/office/drawing/2014/main" id="{35C6D04E-84BE-41DF-B70B-45F2F6F37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861" y="320233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200"/>
              <a:t>3</a:t>
            </a:r>
          </a:p>
        </p:txBody>
      </p:sp>
      <p:sp>
        <p:nvSpPr>
          <p:cNvPr id="32" name="Text Box 151">
            <a:extLst>
              <a:ext uri="{FF2B5EF4-FFF2-40B4-BE49-F238E27FC236}">
                <a16:creationId xmlns:a16="http://schemas.microsoft.com/office/drawing/2014/main" id="{62DA306E-C28A-4706-A98C-D6FE7F6AE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861" y="3613495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200"/>
              <a:t>4</a:t>
            </a:r>
          </a:p>
        </p:txBody>
      </p:sp>
      <p:sp>
        <p:nvSpPr>
          <p:cNvPr id="33" name="Text Box 152">
            <a:extLst>
              <a:ext uri="{FF2B5EF4-FFF2-40B4-BE49-F238E27FC236}">
                <a16:creationId xmlns:a16="http://schemas.microsoft.com/office/drawing/2014/main" id="{655A0362-A78A-4EE7-9854-5826B703C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861" y="394528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200"/>
              <a:t>5</a:t>
            </a:r>
          </a:p>
        </p:txBody>
      </p:sp>
      <p:sp>
        <p:nvSpPr>
          <p:cNvPr id="34" name="Text Box 153">
            <a:extLst>
              <a:ext uri="{FF2B5EF4-FFF2-40B4-BE49-F238E27FC236}">
                <a16:creationId xmlns:a16="http://schemas.microsoft.com/office/drawing/2014/main" id="{D7A4E944-6806-4701-999E-23C233D57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861" y="431993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200"/>
              <a:t>6</a:t>
            </a:r>
          </a:p>
        </p:txBody>
      </p:sp>
      <p:sp>
        <p:nvSpPr>
          <p:cNvPr id="35" name="Text Box 154">
            <a:extLst>
              <a:ext uri="{FF2B5EF4-FFF2-40B4-BE49-F238E27FC236}">
                <a16:creationId xmlns:a16="http://schemas.microsoft.com/office/drawing/2014/main" id="{B49DBD17-E031-46A6-8D25-F03F0EFB8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861" y="4700933"/>
            <a:ext cx="2682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200"/>
              <a:t>7</a:t>
            </a:r>
          </a:p>
        </p:txBody>
      </p:sp>
      <p:sp>
        <p:nvSpPr>
          <p:cNvPr id="36" name="Text Box 155">
            <a:extLst>
              <a:ext uri="{FF2B5EF4-FFF2-40B4-BE49-F238E27FC236}">
                <a16:creationId xmlns:a16="http://schemas.microsoft.com/office/drawing/2014/main" id="{74508007-4C2E-4ED2-ACDD-8DBB0B1E6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861" y="5112095"/>
            <a:ext cx="2682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200"/>
              <a:t>8</a:t>
            </a:r>
          </a:p>
        </p:txBody>
      </p:sp>
      <p:graphicFrame>
        <p:nvGraphicFramePr>
          <p:cNvPr id="37" name="Group 157">
            <a:extLst>
              <a:ext uri="{FF2B5EF4-FFF2-40B4-BE49-F238E27FC236}">
                <a16:creationId xmlns:a16="http://schemas.microsoft.com/office/drawing/2014/main" id="{C3897CC8-E26E-4956-84B2-4F8B942871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724038"/>
              </p:ext>
            </p:extLst>
          </p:nvPr>
        </p:nvGraphicFramePr>
        <p:xfrm>
          <a:off x="2118224" y="2375245"/>
          <a:ext cx="4294187" cy="3092452"/>
        </p:xfrm>
        <a:graphic>
          <a:graphicData uri="http://schemas.openxmlformats.org/drawingml/2006/table">
            <a:tbl>
              <a:tblPr/>
              <a:tblGrid>
                <a:gridCol w="428625">
                  <a:extLst>
                    <a:ext uri="{9D8B030D-6E8A-4147-A177-3AD203B41FA5}">
                      <a16:colId xmlns:a16="http://schemas.microsoft.com/office/drawing/2014/main" val="94093294"/>
                    </a:ext>
                  </a:extLst>
                </a:gridCol>
                <a:gridCol w="430212">
                  <a:extLst>
                    <a:ext uri="{9D8B030D-6E8A-4147-A177-3AD203B41FA5}">
                      <a16:colId xmlns:a16="http://schemas.microsoft.com/office/drawing/2014/main" val="1686409615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552859419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4073478203"/>
                    </a:ext>
                  </a:extLst>
                </a:gridCol>
                <a:gridCol w="430212">
                  <a:extLst>
                    <a:ext uri="{9D8B030D-6E8A-4147-A177-3AD203B41FA5}">
                      <a16:colId xmlns:a16="http://schemas.microsoft.com/office/drawing/2014/main" val="232396546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76595381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3596124598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1350467188"/>
                    </a:ext>
                  </a:extLst>
                </a:gridCol>
                <a:gridCol w="430212">
                  <a:extLst>
                    <a:ext uri="{9D8B030D-6E8A-4147-A177-3AD203B41FA5}">
                      <a16:colId xmlns:a16="http://schemas.microsoft.com/office/drawing/2014/main" val="2858130558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3102578058"/>
                    </a:ext>
                  </a:extLst>
                </a:gridCol>
              </a:tblGrid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719917"/>
                  </a:ext>
                </a:extLst>
              </a:tr>
              <a:tr h="385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536070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097154"/>
                  </a:ext>
                </a:extLst>
              </a:tr>
              <a:tr h="385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808171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453351"/>
                  </a:ext>
                </a:extLst>
              </a:tr>
              <a:tr h="385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520202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309595"/>
                  </a:ext>
                </a:extLst>
              </a:tr>
              <a:tr h="385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352234"/>
                  </a:ext>
                </a:extLst>
              </a:tr>
            </a:tbl>
          </a:graphicData>
        </a:graphic>
      </p:graphicFrame>
      <p:graphicFrame>
        <p:nvGraphicFramePr>
          <p:cNvPr id="38" name="Group 258">
            <a:extLst>
              <a:ext uri="{FF2B5EF4-FFF2-40B4-BE49-F238E27FC236}">
                <a16:creationId xmlns:a16="http://schemas.microsoft.com/office/drawing/2014/main" id="{862908AC-C597-4740-A88B-64368AF24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055769"/>
              </p:ext>
            </p:extLst>
          </p:nvPr>
        </p:nvGraphicFramePr>
        <p:xfrm>
          <a:off x="2118224" y="2375245"/>
          <a:ext cx="4294187" cy="3092452"/>
        </p:xfrm>
        <a:graphic>
          <a:graphicData uri="http://schemas.openxmlformats.org/drawingml/2006/table">
            <a:tbl>
              <a:tblPr/>
              <a:tblGrid>
                <a:gridCol w="428625">
                  <a:extLst>
                    <a:ext uri="{9D8B030D-6E8A-4147-A177-3AD203B41FA5}">
                      <a16:colId xmlns:a16="http://schemas.microsoft.com/office/drawing/2014/main" val="2607712424"/>
                    </a:ext>
                  </a:extLst>
                </a:gridCol>
                <a:gridCol w="430212">
                  <a:extLst>
                    <a:ext uri="{9D8B030D-6E8A-4147-A177-3AD203B41FA5}">
                      <a16:colId xmlns:a16="http://schemas.microsoft.com/office/drawing/2014/main" val="1623084244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3909994039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3346355888"/>
                    </a:ext>
                  </a:extLst>
                </a:gridCol>
                <a:gridCol w="430212">
                  <a:extLst>
                    <a:ext uri="{9D8B030D-6E8A-4147-A177-3AD203B41FA5}">
                      <a16:colId xmlns:a16="http://schemas.microsoft.com/office/drawing/2014/main" val="155950159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3721451788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3389122350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515213571"/>
                    </a:ext>
                  </a:extLst>
                </a:gridCol>
                <a:gridCol w="430212">
                  <a:extLst>
                    <a:ext uri="{9D8B030D-6E8A-4147-A177-3AD203B41FA5}">
                      <a16:colId xmlns:a16="http://schemas.microsoft.com/office/drawing/2014/main" val="110857428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3303933662"/>
                    </a:ext>
                  </a:extLst>
                </a:gridCol>
              </a:tblGrid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-3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-5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067794"/>
                  </a:ext>
                </a:extLst>
              </a:tr>
              <a:tr h="385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829582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427546"/>
                  </a:ext>
                </a:extLst>
              </a:tr>
              <a:tr h="385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-6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293442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474289"/>
                  </a:ext>
                </a:extLst>
              </a:tr>
              <a:tr h="385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-3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-6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186723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650152"/>
                  </a:ext>
                </a:extLst>
              </a:tr>
              <a:tr h="385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211936"/>
                  </a:ext>
                </a:extLst>
              </a:tr>
            </a:tbl>
          </a:graphicData>
        </a:graphic>
      </p:graphicFrame>
      <p:sp>
        <p:nvSpPr>
          <p:cNvPr id="39" name="Oval 4">
            <a:extLst>
              <a:ext uri="{FF2B5EF4-FFF2-40B4-BE49-F238E27FC236}">
                <a16:creationId xmlns:a16="http://schemas.microsoft.com/office/drawing/2014/main" id="{2EF7848C-2B02-4A7F-AE7D-B065D81D5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9036" y="3095177"/>
            <a:ext cx="287338" cy="2873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400"/>
              <a:t>4</a:t>
            </a:r>
          </a:p>
        </p:txBody>
      </p:sp>
      <p:sp>
        <p:nvSpPr>
          <p:cNvPr id="40" name="Oval 5">
            <a:extLst>
              <a:ext uri="{FF2B5EF4-FFF2-40B4-BE49-F238E27FC236}">
                <a16:creationId xmlns:a16="http://schemas.microsoft.com/office/drawing/2014/main" id="{39C8BD68-0973-4F35-B199-13560C8D0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274" y="2626864"/>
            <a:ext cx="287337" cy="287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400"/>
              <a:t>1</a:t>
            </a:r>
          </a:p>
        </p:txBody>
      </p:sp>
      <p:sp>
        <p:nvSpPr>
          <p:cNvPr id="41" name="Oval 6">
            <a:extLst>
              <a:ext uri="{FF2B5EF4-FFF2-40B4-BE49-F238E27FC236}">
                <a16:creationId xmlns:a16="http://schemas.microsoft.com/office/drawing/2014/main" id="{3BFD944E-2CDD-450A-925F-48FA0EDAB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274" y="3490464"/>
            <a:ext cx="287337" cy="287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400"/>
              <a:t>6</a:t>
            </a:r>
          </a:p>
        </p:txBody>
      </p:sp>
      <p:sp>
        <p:nvSpPr>
          <p:cNvPr id="42" name="Oval 7">
            <a:extLst>
              <a:ext uri="{FF2B5EF4-FFF2-40B4-BE49-F238E27FC236}">
                <a16:creationId xmlns:a16="http://schemas.microsoft.com/office/drawing/2014/main" id="{C2920EA3-7485-438C-8E78-337AEDD37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4436" y="3490464"/>
            <a:ext cx="287338" cy="287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400"/>
              <a:t>7</a:t>
            </a:r>
          </a:p>
        </p:txBody>
      </p:sp>
      <p:sp>
        <p:nvSpPr>
          <p:cNvPr id="43" name="Oval 8">
            <a:extLst>
              <a:ext uri="{FF2B5EF4-FFF2-40B4-BE49-F238E27FC236}">
                <a16:creationId xmlns:a16="http://schemas.microsoft.com/office/drawing/2014/main" id="{5ADD8FA1-445F-47D4-B33E-263BF59B5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4436" y="2626864"/>
            <a:ext cx="287338" cy="287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400"/>
              <a:t>2</a:t>
            </a:r>
          </a:p>
        </p:txBody>
      </p:sp>
      <p:sp>
        <p:nvSpPr>
          <p:cNvPr id="44" name="Oval 9">
            <a:extLst>
              <a:ext uri="{FF2B5EF4-FFF2-40B4-BE49-F238E27FC236}">
                <a16:creationId xmlns:a16="http://schemas.microsoft.com/office/drawing/2014/main" id="{6AD16A22-4B74-41D0-9F81-C2FF435A9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1674" y="2626864"/>
            <a:ext cx="287337" cy="287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400"/>
              <a:t>3</a:t>
            </a:r>
          </a:p>
        </p:txBody>
      </p:sp>
      <p:sp>
        <p:nvSpPr>
          <p:cNvPr id="45" name="Oval 10">
            <a:extLst>
              <a:ext uri="{FF2B5EF4-FFF2-40B4-BE49-F238E27FC236}">
                <a16:creationId xmlns:a16="http://schemas.microsoft.com/office/drawing/2014/main" id="{DC62D725-72F2-461A-9542-B65711FBE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1674" y="3490464"/>
            <a:ext cx="287337" cy="287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400"/>
              <a:t>8</a:t>
            </a:r>
          </a:p>
        </p:txBody>
      </p:sp>
      <p:sp>
        <p:nvSpPr>
          <p:cNvPr id="46" name="Oval 11">
            <a:extLst>
              <a:ext uri="{FF2B5EF4-FFF2-40B4-BE49-F238E27FC236}">
                <a16:creationId xmlns:a16="http://schemas.microsoft.com/office/drawing/2014/main" id="{29920B82-0E66-4898-B9DD-04EA2A7F2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7936" y="3022152"/>
            <a:ext cx="287338" cy="2873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400"/>
              <a:t>5</a:t>
            </a:r>
          </a:p>
        </p:txBody>
      </p:sp>
      <p:cxnSp>
        <p:nvCxnSpPr>
          <p:cNvPr id="47" name="AutoShape 12">
            <a:extLst>
              <a:ext uri="{FF2B5EF4-FFF2-40B4-BE49-F238E27FC236}">
                <a16:creationId xmlns:a16="http://schemas.microsoft.com/office/drawing/2014/main" id="{7C5A5E14-AE70-4DAF-A6B3-AADB7F6D9775}"/>
              </a:ext>
            </a:extLst>
          </p:cNvPr>
          <p:cNvCxnSpPr>
            <a:cxnSpLocks noChangeShapeType="1"/>
            <a:stCxn id="39" idx="7"/>
            <a:endCxn id="40" idx="3"/>
          </p:cNvCxnSpPr>
          <p:nvPr/>
        </p:nvCxnSpPr>
        <p:spPr bwMode="auto">
          <a:xfrm flipV="1">
            <a:off x="8313511" y="2871339"/>
            <a:ext cx="301625" cy="266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AutoShape 13">
            <a:extLst>
              <a:ext uri="{FF2B5EF4-FFF2-40B4-BE49-F238E27FC236}">
                <a16:creationId xmlns:a16="http://schemas.microsoft.com/office/drawing/2014/main" id="{43506110-CFDC-44B2-ABE9-5268C857CA1B}"/>
              </a:ext>
            </a:extLst>
          </p:cNvPr>
          <p:cNvCxnSpPr>
            <a:cxnSpLocks noChangeShapeType="1"/>
            <a:stCxn id="39" idx="5"/>
            <a:endCxn id="41" idx="1"/>
          </p:cNvCxnSpPr>
          <p:nvPr/>
        </p:nvCxnSpPr>
        <p:spPr bwMode="auto">
          <a:xfrm>
            <a:off x="8313511" y="3339652"/>
            <a:ext cx="301625" cy="193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AutoShape 14">
            <a:extLst>
              <a:ext uri="{FF2B5EF4-FFF2-40B4-BE49-F238E27FC236}">
                <a16:creationId xmlns:a16="http://schemas.microsoft.com/office/drawing/2014/main" id="{91E4238A-8CE3-4361-94C8-FDBACC67C4AE}"/>
              </a:ext>
            </a:extLst>
          </p:cNvPr>
          <p:cNvCxnSpPr>
            <a:cxnSpLocks noChangeShapeType="1"/>
            <a:stCxn id="40" idx="4"/>
            <a:endCxn id="41" idx="0"/>
          </p:cNvCxnSpPr>
          <p:nvPr/>
        </p:nvCxnSpPr>
        <p:spPr bwMode="auto">
          <a:xfrm>
            <a:off x="8716736" y="2914202"/>
            <a:ext cx="0" cy="576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AutoShape 15">
            <a:extLst>
              <a:ext uri="{FF2B5EF4-FFF2-40B4-BE49-F238E27FC236}">
                <a16:creationId xmlns:a16="http://schemas.microsoft.com/office/drawing/2014/main" id="{52B19650-B5F1-4483-9EC7-0C260FF8466D}"/>
              </a:ext>
            </a:extLst>
          </p:cNvPr>
          <p:cNvCxnSpPr>
            <a:cxnSpLocks noChangeShapeType="1"/>
            <a:stCxn id="40" idx="6"/>
            <a:endCxn id="43" idx="2"/>
          </p:cNvCxnSpPr>
          <p:nvPr/>
        </p:nvCxnSpPr>
        <p:spPr bwMode="auto">
          <a:xfrm>
            <a:off x="8859611" y="2771327"/>
            <a:ext cx="5048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AutoShape 16">
            <a:extLst>
              <a:ext uri="{FF2B5EF4-FFF2-40B4-BE49-F238E27FC236}">
                <a16:creationId xmlns:a16="http://schemas.microsoft.com/office/drawing/2014/main" id="{EC970B41-70F2-41AA-9519-F36F8A94D94B}"/>
              </a:ext>
            </a:extLst>
          </p:cNvPr>
          <p:cNvCxnSpPr>
            <a:cxnSpLocks noChangeShapeType="1"/>
            <a:stCxn id="41" idx="7"/>
            <a:endCxn id="43" idx="3"/>
          </p:cNvCxnSpPr>
          <p:nvPr/>
        </p:nvCxnSpPr>
        <p:spPr bwMode="auto">
          <a:xfrm flipV="1">
            <a:off x="8816749" y="2871339"/>
            <a:ext cx="590550" cy="6619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AutoShape 17">
            <a:extLst>
              <a:ext uri="{FF2B5EF4-FFF2-40B4-BE49-F238E27FC236}">
                <a16:creationId xmlns:a16="http://schemas.microsoft.com/office/drawing/2014/main" id="{EF7631D6-FA6A-47F0-9B0D-E9C515349A53}"/>
              </a:ext>
            </a:extLst>
          </p:cNvPr>
          <p:cNvCxnSpPr>
            <a:cxnSpLocks noChangeShapeType="1"/>
            <a:stCxn id="43" idx="4"/>
            <a:endCxn id="42" idx="0"/>
          </p:cNvCxnSpPr>
          <p:nvPr/>
        </p:nvCxnSpPr>
        <p:spPr bwMode="auto">
          <a:xfrm>
            <a:off x="9508899" y="2914202"/>
            <a:ext cx="0" cy="576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AutoShape 18">
            <a:extLst>
              <a:ext uri="{FF2B5EF4-FFF2-40B4-BE49-F238E27FC236}">
                <a16:creationId xmlns:a16="http://schemas.microsoft.com/office/drawing/2014/main" id="{B1939F00-5814-4624-AA31-ADB3D213CE4D}"/>
              </a:ext>
            </a:extLst>
          </p:cNvPr>
          <p:cNvCxnSpPr>
            <a:cxnSpLocks noChangeShapeType="1"/>
            <a:stCxn id="41" idx="6"/>
            <a:endCxn id="42" idx="2"/>
          </p:cNvCxnSpPr>
          <p:nvPr/>
        </p:nvCxnSpPr>
        <p:spPr bwMode="auto">
          <a:xfrm>
            <a:off x="8859611" y="3634927"/>
            <a:ext cx="5048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AutoShape 19">
            <a:extLst>
              <a:ext uri="{FF2B5EF4-FFF2-40B4-BE49-F238E27FC236}">
                <a16:creationId xmlns:a16="http://schemas.microsoft.com/office/drawing/2014/main" id="{249E5209-FBEE-4E78-AE65-34DC2A466D66}"/>
              </a:ext>
            </a:extLst>
          </p:cNvPr>
          <p:cNvCxnSpPr>
            <a:cxnSpLocks noChangeShapeType="1"/>
            <a:stCxn id="44" idx="4"/>
            <a:endCxn id="45" idx="0"/>
          </p:cNvCxnSpPr>
          <p:nvPr/>
        </p:nvCxnSpPr>
        <p:spPr bwMode="auto">
          <a:xfrm>
            <a:off x="10266136" y="2914202"/>
            <a:ext cx="0" cy="576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AutoShape 20">
            <a:extLst>
              <a:ext uri="{FF2B5EF4-FFF2-40B4-BE49-F238E27FC236}">
                <a16:creationId xmlns:a16="http://schemas.microsoft.com/office/drawing/2014/main" id="{AB9DFC53-0DB6-4DD9-884D-DC055D8751FA}"/>
              </a:ext>
            </a:extLst>
          </p:cNvPr>
          <p:cNvCxnSpPr>
            <a:cxnSpLocks noChangeShapeType="1"/>
            <a:stCxn id="44" idx="5"/>
            <a:endCxn id="46" idx="1"/>
          </p:cNvCxnSpPr>
          <p:nvPr/>
        </p:nvCxnSpPr>
        <p:spPr bwMode="auto">
          <a:xfrm>
            <a:off x="10366149" y="2871339"/>
            <a:ext cx="374650" cy="193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AutoShape 21">
            <a:extLst>
              <a:ext uri="{FF2B5EF4-FFF2-40B4-BE49-F238E27FC236}">
                <a16:creationId xmlns:a16="http://schemas.microsoft.com/office/drawing/2014/main" id="{746E793E-6976-4864-AC79-F7928AAF8E02}"/>
              </a:ext>
            </a:extLst>
          </p:cNvPr>
          <p:cNvCxnSpPr>
            <a:cxnSpLocks noChangeShapeType="1"/>
            <a:stCxn id="45" idx="7"/>
            <a:endCxn id="46" idx="3"/>
          </p:cNvCxnSpPr>
          <p:nvPr/>
        </p:nvCxnSpPr>
        <p:spPr bwMode="auto">
          <a:xfrm flipV="1">
            <a:off x="10366149" y="3266627"/>
            <a:ext cx="374650" cy="266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AutoShape 22">
            <a:extLst>
              <a:ext uri="{FF2B5EF4-FFF2-40B4-BE49-F238E27FC236}">
                <a16:creationId xmlns:a16="http://schemas.microsoft.com/office/drawing/2014/main" id="{C99A34A3-B162-4EA5-9C04-8F179F2EAA35}"/>
              </a:ext>
            </a:extLst>
          </p:cNvPr>
          <p:cNvCxnSpPr>
            <a:cxnSpLocks noChangeShapeType="1"/>
            <a:stCxn id="39" idx="7"/>
            <a:endCxn id="40" idx="3"/>
          </p:cNvCxnSpPr>
          <p:nvPr/>
        </p:nvCxnSpPr>
        <p:spPr bwMode="auto">
          <a:xfrm flipV="1">
            <a:off x="8313511" y="2871339"/>
            <a:ext cx="301625" cy="266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AutoShape 23">
            <a:extLst>
              <a:ext uri="{FF2B5EF4-FFF2-40B4-BE49-F238E27FC236}">
                <a16:creationId xmlns:a16="http://schemas.microsoft.com/office/drawing/2014/main" id="{E5660A32-4C84-4E5F-81DF-2E6283818CA4}"/>
              </a:ext>
            </a:extLst>
          </p:cNvPr>
          <p:cNvCxnSpPr>
            <a:cxnSpLocks noChangeShapeType="1"/>
            <a:stCxn id="39" idx="5"/>
            <a:endCxn id="41" idx="1"/>
          </p:cNvCxnSpPr>
          <p:nvPr/>
        </p:nvCxnSpPr>
        <p:spPr bwMode="auto">
          <a:xfrm>
            <a:off x="8313511" y="3339652"/>
            <a:ext cx="301625" cy="193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AutoShape 24">
            <a:extLst>
              <a:ext uri="{FF2B5EF4-FFF2-40B4-BE49-F238E27FC236}">
                <a16:creationId xmlns:a16="http://schemas.microsoft.com/office/drawing/2014/main" id="{2BA5816E-C3EE-473D-B067-7FA05D15B472}"/>
              </a:ext>
            </a:extLst>
          </p:cNvPr>
          <p:cNvCxnSpPr>
            <a:cxnSpLocks noChangeShapeType="1"/>
            <a:stCxn id="40" idx="4"/>
            <a:endCxn id="41" idx="0"/>
          </p:cNvCxnSpPr>
          <p:nvPr/>
        </p:nvCxnSpPr>
        <p:spPr bwMode="auto">
          <a:xfrm>
            <a:off x="8716736" y="2914202"/>
            <a:ext cx="0" cy="576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AutoShape 25">
            <a:extLst>
              <a:ext uri="{FF2B5EF4-FFF2-40B4-BE49-F238E27FC236}">
                <a16:creationId xmlns:a16="http://schemas.microsoft.com/office/drawing/2014/main" id="{520EDECE-C078-446C-9444-2406A8D9D5CE}"/>
              </a:ext>
            </a:extLst>
          </p:cNvPr>
          <p:cNvCxnSpPr>
            <a:cxnSpLocks noChangeShapeType="1"/>
            <a:stCxn id="40" idx="6"/>
            <a:endCxn id="43" idx="2"/>
          </p:cNvCxnSpPr>
          <p:nvPr/>
        </p:nvCxnSpPr>
        <p:spPr bwMode="auto">
          <a:xfrm>
            <a:off x="8859611" y="2771327"/>
            <a:ext cx="5048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AutoShape 26">
            <a:extLst>
              <a:ext uri="{FF2B5EF4-FFF2-40B4-BE49-F238E27FC236}">
                <a16:creationId xmlns:a16="http://schemas.microsoft.com/office/drawing/2014/main" id="{57B70B24-AEB2-40B1-B19D-A237C6F9B70D}"/>
              </a:ext>
            </a:extLst>
          </p:cNvPr>
          <p:cNvCxnSpPr>
            <a:cxnSpLocks noChangeShapeType="1"/>
            <a:stCxn id="41" idx="7"/>
            <a:endCxn id="43" idx="3"/>
          </p:cNvCxnSpPr>
          <p:nvPr/>
        </p:nvCxnSpPr>
        <p:spPr bwMode="auto">
          <a:xfrm flipV="1">
            <a:off x="8816749" y="2871339"/>
            <a:ext cx="590550" cy="6619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AutoShape 27">
            <a:extLst>
              <a:ext uri="{FF2B5EF4-FFF2-40B4-BE49-F238E27FC236}">
                <a16:creationId xmlns:a16="http://schemas.microsoft.com/office/drawing/2014/main" id="{36D840DB-5281-47EA-85DD-C5C72BA09575}"/>
              </a:ext>
            </a:extLst>
          </p:cNvPr>
          <p:cNvCxnSpPr>
            <a:cxnSpLocks noChangeShapeType="1"/>
            <a:stCxn id="43" idx="4"/>
            <a:endCxn id="42" idx="0"/>
          </p:cNvCxnSpPr>
          <p:nvPr/>
        </p:nvCxnSpPr>
        <p:spPr bwMode="auto">
          <a:xfrm>
            <a:off x="9508899" y="2914202"/>
            <a:ext cx="0" cy="576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AutoShape 28">
            <a:extLst>
              <a:ext uri="{FF2B5EF4-FFF2-40B4-BE49-F238E27FC236}">
                <a16:creationId xmlns:a16="http://schemas.microsoft.com/office/drawing/2014/main" id="{3673E79A-A64B-4B5A-A45B-8DB7173F69F5}"/>
              </a:ext>
            </a:extLst>
          </p:cNvPr>
          <p:cNvCxnSpPr>
            <a:cxnSpLocks noChangeShapeType="1"/>
            <a:stCxn id="41" idx="6"/>
            <a:endCxn id="42" idx="2"/>
          </p:cNvCxnSpPr>
          <p:nvPr/>
        </p:nvCxnSpPr>
        <p:spPr bwMode="auto">
          <a:xfrm>
            <a:off x="8859611" y="3634927"/>
            <a:ext cx="5048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AutoShape 29">
            <a:extLst>
              <a:ext uri="{FF2B5EF4-FFF2-40B4-BE49-F238E27FC236}">
                <a16:creationId xmlns:a16="http://schemas.microsoft.com/office/drawing/2014/main" id="{6A81B5D0-A98B-4F36-BD2D-F7DEF41349CC}"/>
              </a:ext>
            </a:extLst>
          </p:cNvPr>
          <p:cNvCxnSpPr>
            <a:cxnSpLocks noChangeShapeType="1"/>
            <a:stCxn id="44" idx="4"/>
            <a:endCxn id="45" idx="0"/>
          </p:cNvCxnSpPr>
          <p:nvPr/>
        </p:nvCxnSpPr>
        <p:spPr bwMode="auto">
          <a:xfrm>
            <a:off x="10266136" y="2914202"/>
            <a:ext cx="0" cy="576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AutoShape 30">
            <a:extLst>
              <a:ext uri="{FF2B5EF4-FFF2-40B4-BE49-F238E27FC236}">
                <a16:creationId xmlns:a16="http://schemas.microsoft.com/office/drawing/2014/main" id="{23943B30-B99A-45C5-BAAF-6EE7C546B542}"/>
              </a:ext>
            </a:extLst>
          </p:cNvPr>
          <p:cNvCxnSpPr>
            <a:cxnSpLocks noChangeShapeType="1"/>
            <a:stCxn id="44" idx="5"/>
            <a:endCxn id="46" idx="1"/>
          </p:cNvCxnSpPr>
          <p:nvPr/>
        </p:nvCxnSpPr>
        <p:spPr bwMode="auto">
          <a:xfrm>
            <a:off x="10366149" y="2871339"/>
            <a:ext cx="374650" cy="193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AutoShape 31">
            <a:extLst>
              <a:ext uri="{FF2B5EF4-FFF2-40B4-BE49-F238E27FC236}">
                <a16:creationId xmlns:a16="http://schemas.microsoft.com/office/drawing/2014/main" id="{2FC843CA-D0EF-4653-A9DC-891E9D65FB12}"/>
              </a:ext>
            </a:extLst>
          </p:cNvPr>
          <p:cNvCxnSpPr>
            <a:cxnSpLocks noChangeShapeType="1"/>
            <a:stCxn id="45" idx="7"/>
            <a:endCxn id="46" idx="3"/>
          </p:cNvCxnSpPr>
          <p:nvPr/>
        </p:nvCxnSpPr>
        <p:spPr bwMode="auto">
          <a:xfrm flipV="1">
            <a:off x="10366149" y="3266627"/>
            <a:ext cx="374650" cy="266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Text Box 32">
            <a:extLst>
              <a:ext uri="{FF2B5EF4-FFF2-40B4-BE49-F238E27FC236}">
                <a16:creationId xmlns:a16="http://schemas.microsoft.com/office/drawing/2014/main" id="{4C0496F3-DF69-4CFC-9F2B-902C2C6C9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149" y="2555427"/>
            <a:ext cx="25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000"/>
              <a:t>3</a:t>
            </a:r>
          </a:p>
        </p:txBody>
      </p:sp>
      <p:sp>
        <p:nvSpPr>
          <p:cNvPr id="68" name="Text Box 33">
            <a:extLst>
              <a:ext uri="{FF2B5EF4-FFF2-40B4-BE49-F238E27FC236}">
                <a16:creationId xmlns:a16="http://schemas.microsoft.com/office/drawing/2014/main" id="{16A54759-3AC6-4EEF-9F00-EFDABBE83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636" y="3022152"/>
            <a:ext cx="25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000"/>
              <a:t>5</a:t>
            </a:r>
          </a:p>
        </p:txBody>
      </p:sp>
      <p:sp>
        <p:nvSpPr>
          <p:cNvPr id="69" name="Text Box 34">
            <a:extLst>
              <a:ext uri="{FF2B5EF4-FFF2-40B4-BE49-F238E27FC236}">
                <a16:creationId xmlns:a16="http://schemas.microsoft.com/office/drawing/2014/main" id="{25E5CE52-B5D5-4CB7-AE75-1F11C65E9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8999" y="3138039"/>
            <a:ext cx="25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000"/>
              <a:t>3</a:t>
            </a:r>
          </a:p>
        </p:txBody>
      </p:sp>
      <p:sp>
        <p:nvSpPr>
          <p:cNvPr id="70" name="Text Box 35">
            <a:extLst>
              <a:ext uri="{FF2B5EF4-FFF2-40B4-BE49-F238E27FC236}">
                <a16:creationId xmlns:a16="http://schemas.microsoft.com/office/drawing/2014/main" id="{F24C135B-E4F0-456C-9B09-782DC83EB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80449" y="2771327"/>
            <a:ext cx="25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000"/>
              <a:t>1</a:t>
            </a:r>
          </a:p>
        </p:txBody>
      </p:sp>
      <p:sp>
        <p:nvSpPr>
          <p:cNvPr id="71" name="Text Box 36">
            <a:extLst>
              <a:ext uri="{FF2B5EF4-FFF2-40B4-BE49-F238E27FC236}">
                <a16:creationId xmlns:a16="http://schemas.microsoft.com/office/drawing/2014/main" id="{77920E3E-23DE-4C1C-A635-BD8013D56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9624" y="3058664"/>
            <a:ext cx="25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000"/>
              <a:t>4</a:t>
            </a:r>
          </a:p>
        </p:txBody>
      </p:sp>
      <p:sp>
        <p:nvSpPr>
          <p:cNvPr id="72" name="Text Box 37">
            <a:extLst>
              <a:ext uri="{FF2B5EF4-FFF2-40B4-BE49-F238E27FC236}">
                <a16:creationId xmlns:a16="http://schemas.microsoft.com/office/drawing/2014/main" id="{B304190E-F3D4-4AAF-8D91-6CC43862D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8424" y="2806252"/>
            <a:ext cx="25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000"/>
              <a:t>2</a:t>
            </a:r>
          </a:p>
        </p:txBody>
      </p:sp>
      <p:sp>
        <p:nvSpPr>
          <p:cNvPr id="73" name="Text Box 38">
            <a:extLst>
              <a:ext uri="{FF2B5EF4-FFF2-40B4-BE49-F238E27FC236}">
                <a16:creationId xmlns:a16="http://schemas.microsoft.com/office/drawing/2014/main" id="{73112B5D-A7B2-4444-85AC-F0E699ADC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2886" y="3238052"/>
            <a:ext cx="25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000"/>
              <a:t>6</a:t>
            </a:r>
          </a:p>
        </p:txBody>
      </p:sp>
      <p:sp>
        <p:nvSpPr>
          <p:cNvPr id="74" name="Text Box 39">
            <a:extLst>
              <a:ext uri="{FF2B5EF4-FFF2-40B4-BE49-F238E27FC236}">
                <a16:creationId xmlns:a16="http://schemas.microsoft.com/office/drawing/2014/main" id="{7A034FC2-3C4F-4118-AAFB-61BBDEE0B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2386" y="3095177"/>
            <a:ext cx="25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000"/>
              <a:t>2</a:t>
            </a:r>
          </a:p>
        </p:txBody>
      </p:sp>
      <p:sp>
        <p:nvSpPr>
          <p:cNvPr id="75" name="Text Box 40">
            <a:extLst>
              <a:ext uri="{FF2B5EF4-FFF2-40B4-BE49-F238E27FC236}">
                <a16:creationId xmlns:a16="http://schemas.microsoft.com/office/drawing/2014/main" id="{A5C7B38A-9769-4B3C-A5EA-DBFEED6EF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2486" y="3598414"/>
            <a:ext cx="25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000"/>
              <a:t>6</a:t>
            </a:r>
          </a:p>
        </p:txBody>
      </p:sp>
      <p:sp>
        <p:nvSpPr>
          <p:cNvPr id="76" name="Text Box 41">
            <a:extLst>
              <a:ext uri="{FF2B5EF4-FFF2-40B4-BE49-F238E27FC236}">
                <a16:creationId xmlns:a16="http://schemas.microsoft.com/office/drawing/2014/main" id="{C2490857-2255-43B4-8661-F8919E15A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5374" y="3353939"/>
            <a:ext cx="25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000"/>
              <a:t>1</a:t>
            </a:r>
          </a:p>
        </p:txBody>
      </p:sp>
      <p:sp>
        <p:nvSpPr>
          <p:cNvPr id="77" name="Text Box 360">
            <a:extLst>
              <a:ext uri="{FF2B5EF4-FFF2-40B4-BE49-F238E27FC236}">
                <a16:creationId xmlns:a16="http://schemas.microsoft.com/office/drawing/2014/main" id="{7118BC17-C6CF-412E-B9B6-59565410D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3911" y="6123566"/>
            <a:ext cx="25257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/>
              <a:t> Менять нагрузку на ребра</a:t>
            </a:r>
          </a:p>
        </p:txBody>
      </p:sp>
      <p:sp>
        <p:nvSpPr>
          <p:cNvPr id="78" name="Text Box 361">
            <a:extLst>
              <a:ext uri="{FF2B5EF4-FFF2-40B4-BE49-F238E27FC236}">
                <a16:creationId xmlns:a16="http://schemas.microsoft.com/office/drawing/2014/main" id="{7BAB9967-5534-4E50-AABB-02FFDF5CD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549" y="6449004"/>
            <a:ext cx="25511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/>
              <a:t> Проверять инцидентность</a:t>
            </a:r>
          </a:p>
        </p:txBody>
      </p:sp>
      <p:sp>
        <p:nvSpPr>
          <p:cNvPr id="79" name="Text Box 363">
            <a:extLst>
              <a:ext uri="{FF2B5EF4-FFF2-40B4-BE49-F238E27FC236}">
                <a16:creationId xmlns:a16="http://schemas.microsoft.com/office/drawing/2014/main" id="{5F921C95-FB0F-4429-B64A-308D37D9C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6223" y="6156325"/>
            <a:ext cx="29352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/>
              <a:t> Добавлять и удалять вершины</a:t>
            </a:r>
          </a:p>
        </p:txBody>
      </p:sp>
      <p:sp>
        <p:nvSpPr>
          <p:cNvPr id="80" name="Text Box 364">
            <a:extLst>
              <a:ext uri="{FF2B5EF4-FFF2-40B4-BE49-F238E27FC236}">
                <a16:creationId xmlns:a16="http://schemas.microsoft.com/office/drawing/2014/main" id="{15576CE9-715C-429D-A990-117794FCD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6861" y="6492875"/>
            <a:ext cx="33496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altLang="ru-RU" sz="1400"/>
              <a:t> Работать с разреженными графами</a:t>
            </a:r>
          </a:p>
        </p:txBody>
      </p:sp>
    </p:spTree>
    <p:extLst>
      <p:ext uri="{BB962C8B-B14F-4D97-AF65-F5344CB8AC3E}">
        <p14:creationId xmlns:p14="http://schemas.microsoft.com/office/powerpoint/2010/main" val="157855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CB16-3639-42AD-841E-AC8770E14E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BEBF2-911F-4513-A630-9EBF971AC7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в ширину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457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47C-3D4F-42E6-9BD5-EA99DA4D3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086599" cy="442689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800" dirty="0"/>
              <a:t>BFS </a:t>
            </a:r>
            <a:r>
              <a:rPr lang="ru-RU" sz="2800" dirty="0"/>
              <a:t>также является методом обхода графа</a:t>
            </a:r>
            <a:r>
              <a:rPr lang="en-US" sz="2800" dirty="0"/>
              <a:t>. </a:t>
            </a:r>
          </a:p>
          <a:p>
            <a:pPr lvl="1"/>
            <a:r>
              <a:rPr lang="ru-RU" sz="2800" dirty="0"/>
              <a:t>Алгоритм</a:t>
            </a:r>
            <a:r>
              <a:rPr lang="en-US" sz="2800" dirty="0"/>
              <a:t>: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marL="457200" lvl="1" indent="0">
              <a:buNone/>
            </a:pPr>
            <a:endParaRPr lang="hy-AM" sz="2800" dirty="0"/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A9F4D1-9247-4D07-9EE8-7584E2B8E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573" y="1690688"/>
            <a:ext cx="4086225" cy="3752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97F83C-D5A5-43EA-8585-75BA7E855C6C}"/>
              </a:ext>
            </a:extLst>
          </p:cNvPr>
          <p:cNvSpPr txBox="1"/>
          <p:nvPr/>
        </p:nvSpPr>
        <p:spPr>
          <a:xfrm>
            <a:off x="2209972" y="3125132"/>
            <a:ext cx="643848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BFS(</a:t>
            </a:r>
            <a:r>
              <a:rPr lang="en-US" sz="2000" i="1" dirty="0"/>
              <a:t>v</a:t>
            </a:r>
            <a:r>
              <a:rPr lang="en-US" sz="2000" dirty="0"/>
              <a:t>)</a:t>
            </a:r>
          </a:p>
          <a:p>
            <a:r>
              <a:rPr lang="en-US" sz="2000" dirty="0"/>
              <a:t>{</a:t>
            </a:r>
            <a:br>
              <a:rPr lang="en-US" sz="2000" dirty="0"/>
            </a:br>
            <a:r>
              <a:rPr lang="en-US" sz="2000" dirty="0"/>
              <a:t>        </a:t>
            </a:r>
            <a:r>
              <a:rPr lang="ru-RU" sz="2000" dirty="0"/>
              <a:t>добавить</a:t>
            </a:r>
            <a:r>
              <a:rPr lang="en-US" sz="2000" dirty="0"/>
              <a:t> </a:t>
            </a:r>
            <a:r>
              <a:rPr lang="en-US" sz="2000" b="1" i="1" dirty="0"/>
              <a:t>v</a:t>
            </a:r>
            <a:r>
              <a:rPr lang="en-US" sz="2000" dirty="0"/>
              <a:t> </a:t>
            </a:r>
            <a:r>
              <a:rPr lang="ru-RU" sz="2000" dirty="0"/>
              <a:t>в очередь </a:t>
            </a:r>
            <a:r>
              <a:rPr lang="en-US" sz="2000" b="1" i="1" dirty="0"/>
              <a:t>q</a:t>
            </a:r>
          </a:p>
          <a:p>
            <a:r>
              <a:rPr lang="en-US" sz="2000" dirty="0"/>
              <a:t>        </a:t>
            </a:r>
            <a:r>
              <a:rPr lang="ru-RU" sz="2000" dirty="0"/>
              <a:t>пока </a:t>
            </a:r>
            <a:r>
              <a:rPr lang="en-US" sz="2000" b="1" i="1" dirty="0"/>
              <a:t>q </a:t>
            </a:r>
            <a:r>
              <a:rPr lang="ru-RU" sz="2000" dirty="0"/>
              <a:t>не пусто</a:t>
            </a:r>
            <a:br>
              <a:rPr lang="en-US" sz="2000" dirty="0"/>
            </a:br>
            <a:r>
              <a:rPr lang="en-US" sz="2000" dirty="0"/>
              <a:t>                </a:t>
            </a:r>
            <a:r>
              <a:rPr lang="ru-RU" sz="2000" dirty="0"/>
              <a:t>взять первую вершину </a:t>
            </a:r>
            <a:r>
              <a:rPr lang="en-US" sz="2000" b="1" i="1" dirty="0"/>
              <a:t>u</a:t>
            </a:r>
            <a:r>
              <a:rPr lang="en-US" sz="2000" dirty="0"/>
              <a:t> </a:t>
            </a:r>
            <a:r>
              <a:rPr lang="ru-RU" sz="2000" dirty="0"/>
              <a:t>из</a:t>
            </a:r>
            <a:r>
              <a:rPr lang="en-US" sz="2000" dirty="0"/>
              <a:t> </a:t>
            </a:r>
            <a:r>
              <a:rPr lang="en-US" sz="2000" b="1" i="1" dirty="0"/>
              <a:t>q</a:t>
            </a:r>
          </a:p>
          <a:p>
            <a:r>
              <a:rPr lang="en-US" sz="2000" b="1" i="1" dirty="0"/>
              <a:t> </a:t>
            </a:r>
            <a:r>
              <a:rPr lang="ru-RU" sz="2000" b="1" i="1" dirty="0"/>
              <a:t>               </a:t>
            </a:r>
            <a:r>
              <a:rPr lang="ru-RU" sz="2000" dirty="0"/>
              <a:t>удалить первую вершину из </a:t>
            </a:r>
            <a:r>
              <a:rPr lang="en-US" sz="2000" b="1" i="1" dirty="0"/>
              <a:t>q</a:t>
            </a:r>
            <a:endParaRPr lang="en-US" sz="2000" dirty="0"/>
          </a:p>
          <a:p>
            <a:r>
              <a:rPr lang="en-US" sz="2000" dirty="0"/>
              <a:t>                </a:t>
            </a:r>
            <a:r>
              <a:rPr lang="ru-RU" sz="2000" dirty="0"/>
              <a:t>пометить</a:t>
            </a:r>
            <a:r>
              <a:rPr lang="en-US" sz="2000" dirty="0"/>
              <a:t> </a:t>
            </a:r>
            <a:r>
              <a:rPr lang="en-US" sz="2000" b="1" i="1" dirty="0"/>
              <a:t>u</a:t>
            </a:r>
            <a:r>
              <a:rPr lang="en-US" sz="2000" dirty="0"/>
              <a:t> </a:t>
            </a:r>
            <a:r>
              <a:rPr lang="ru-RU" sz="2000" dirty="0"/>
              <a:t>как посетившую</a:t>
            </a:r>
            <a:endParaRPr lang="en-US" sz="2000" dirty="0"/>
          </a:p>
          <a:p>
            <a:r>
              <a:rPr lang="en-US" sz="2000" i="1" dirty="0"/>
              <a:t> </a:t>
            </a:r>
            <a:r>
              <a:rPr lang="ru-RU" sz="2000" i="1" dirty="0"/>
              <a:t>              для всех </a:t>
            </a:r>
            <a:r>
              <a:rPr lang="ru-RU" sz="2000" i="1" dirty="0" err="1"/>
              <a:t>непосещенных</a:t>
            </a:r>
            <a:r>
              <a:rPr lang="ru-RU" sz="2000" i="1" dirty="0"/>
              <a:t> смежных вершин </a:t>
            </a:r>
            <a:r>
              <a:rPr lang="en-US" sz="2000" b="1" i="1" dirty="0"/>
              <a:t>w</a:t>
            </a:r>
            <a:r>
              <a:rPr lang="en-US" sz="2000" dirty="0"/>
              <a:t> </a:t>
            </a:r>
            <a:r>
              <a:rPr lang="ru-RU" sz="2000" dirty="0"/>
              <a:t>из </a:t>
            </a:r>
            <a:r>
              <a:rPr lang="en-US" sz="2000" b="1" i="1" dirty="0"/>
              <a:t>u</a:t>
            </a:r>
            <a:r>
              <a:rPr lang="en-US" sz="2000" dirty="0"/>
              <a:t> </a:t>
            </a:r>
          </a:p>
          <a:p>
            <a:r>
              <a:rPr lang="en-US" sz="2000" dirty="0"/>
              <a:t>                        </a:t>
            </a:r>
            <a:r>
              <a:rPr lang="ru-RU" sz="2000" dirty="0"/>
              <a:t>добавить </a:t>
            </a:r>
            <a:r>
              <a:rPr lang="en-US" sz="2000" b="1" i="1" dirty="0"/>
              <a:t>w</a:t>
            </a:r>
            <a:r>
              <a:rPr lang="en-US" sz="2000" dirty="0"/>
              <a:t> </a:t>
            </a:r>
            <a:r>
              <a:rPr lang="ru-RU" sz="2000" dirty="0"/>
              <a:t>в</a:t>
            </a:r>
            <a:r>
              <a:rPr lang="en-US" sz="2000" dirty="0"/>
              <a:t> </a:t>
            </a:r>
            <a:r>
              <a:rPr lang="en-US" sz="2000" b="1" i="1" dirty="0"/>
              <a:t>q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2930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{}</a:t>
            </a:r>
            <a:br>
              <a:rPr lang="en-US" dirty="0"/>
            </a:br>
            <a:r>
              <a:rPr lang="ru-RU" dirty="0"/>
              <a:t>Очередь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CBADC-1EF5-4BE6-B6F9-0D66966D9481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135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{1}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25D1426-66A9-4470-923A-3355CC42C1C0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823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D47A895-16DC-4374-BE01-AD9A1F41D752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818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4C40AEA8-1845-403C-9DCF-6A693701E505}"/>
              </a:ext>
            </a:extLst>
          </p:cNvPr>
          <p:cNvCxnSpPr>
            <a:stCxn id="3" idx="7"/>
            <a:endCxn id="8" idx="1"/>
          </p:cNvCxnSpPr>
          <p:nvPr/>
        </p:nvCxnSpPr>
        <p:spPr>
          <a:xfrm rot="5400000" flipH="1" flipV="1">
            <a:off x="5435036" y="2192628"/>
            <a:ext cx="12700" cy="1172781"/>
          </a:xfrm>
          <a:prstGeom prst="curvedConnector3">
            <a:avLst>
              <a:gd name="adj1" fmla="val 1182315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80CE3BEF-4945-4192-8710-CF7AC81579ED}"/>
              </a:ext>
            </a:extLst>
          </p:cNvPr>
          <p:cNvCxnSpPr>
            <a:stCxn id="3" idx="2"/>
            <a:endCxn id="9" idx="0"/>
          </p:cNvCxnSpPr>
          <p:nvPr/>
        </p:nvCxnSpPr>
        <p:spPr>
          <a:xfrm rot="10800000" flipV="1">
            <a:off x="3233351" y="2927731"/>
            <a:ext cx="1256271" cy="118538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043A4AB-4C26-422C-A906-AD066F0A089C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822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</a:t>
            </a:r>
            <a:r>
              <a:rPr lang="en-US" dirty="0"/>
              <a:t>: 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4C40AEA8-1845-403C-9DCF-6A693701E505}"/>
              </a:ext>
            </a:extLst>
          </p:cNvPr>
          <p:cNvCxnSpPr>
            <a:stCxn id="3" idx="7"/>
            <a:endCxn id="8" idx="1"/>
          </p:cNvCxnSpPr>
          <p:nvPr/>
        </p:nvCxnSpPr>
        <p:spPr>
          <a:xfrm rot="5400000" flipH="1" flipV="1">
            <a:off x="5435036" y="2192628"/>
            <a:ext cx="12700" cy="1172781"/>
          </a:xfrm>
          <a:prstGeom prst="curvedConnector3">
            <a:avLst>
              <a:gd name="adj1" fmla="val 1182315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80CE3BEF-4945-4192-8710-CF7AC81579ED}"/>
              </a:ext>
            </a:extLst>
          </p:cNvPr>
          <p:cNvCxnSpPr>
            <a:stCxn id="3" idx="2"/>
            <a:endCxn id="9" idx="0"/>
          </p:cNvCxnSpPr>
          <p:nvPr/>
        </p:nvCxnSpPr>
        <p:spPr>
          <a:xfrm rot="10800000" flipV="1">
            <a:off x="3233351" y="2927731"/>
            <a:ext cx="1256271" cy="1185388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2BC982D-E53E-4FE5-8168-734BD34659B3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011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{2, 4}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</a:t>
            </a:r>
            <a:r>
              <a:rPr lang="en-US" dirty="0"/>
              <a:t>: 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DE05A0D-E9C6-450A-8F8B-3478593F1739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853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{2, 4}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1C7A50F-BC0A-45A8-AFC5-668444C81861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47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{4}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1762E0B-B0BD-4229-8848-55DA9D6939E8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7464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{4}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114A21C3-AFF6-4418-BB9F-9944D57C6DDE}"/>
              </a:ext>
            </a:extLst>
          </p:cNvPr>
          <p:cNvCxnSpPr>
            <a:stCxn id="8" idx="1"/>
            <a:endCxn id="3" idx="7"/>
          </p:cNvCxnSpPr>
          <p:nvPr/>
        </p:nvCxnSpPr>
        <p:spPr>
          <a:xfrm rot="16200000" flipV="1">
            <a:off x="5435037" y="2192627"/>
            <a:ext cx="12700" cy="1172781"/>
          </a:xfrm>
          <a:prstGeom prst="curvedConnector3">
            <a:avLst>
              <a:gd name="adj1" fmla="val 228503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05096855-8785-4DA5-8BB7-944F0A8D6871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10800000" flipV="1">
            <a:off x="4708418" y="2927731"/>
            <a:ext cx="1251411" cy="258258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EED2DB83-A008-4CDB-8501-2712FF281D36}"/>
              </a:ext>
            </a:extLst>
          </p:cNvPr>
          <p:cNvCxnSpPr>
            <a:stCxn id="8" idx="5"/>
            <a:endCxn id="11" idx="0"/>
          </p:cNvCxnSpPr>
          <p:nvPr/>
        </p:nvCxnSpPr>
        <p:spPr>
          <a:xfrm rot="5400000">
            <a:off x="5025749" y="4221326"/>
            <a:ext cx="2437987" cy="148223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2551A7-B007-48F9-81B4-285E8F81595D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644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{4, </a:t>
            </a:r>
            <a:r>
              <a:rPr lang="en-US" dirty="0">
                <a:solidFill>
                  <a:srgbClr val="FF0000"/>
                </a:solidFill>
              </a:rPr>
              <a:t>6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7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114A21C3-AFF6-4418-BB9F-9944D57C6DDE}"/>
              </a:ext>
            </a:extLst>
          </p:cNvPr>
          <p:cNvCxnSpPr>
            <a:stCxn id="8" idx="1"/>
            <a:endCxn id="3" idx="7"/>
          </p:cNvCxnSpPr>
          <p:nvPr/>
        </p:nvCxnSpPr>
        <p:spPr>
          <a:xfrm rot="16200000" flipV="1">
            <a:off x="5435037" y="2192627"/>
            <a:ext cx="12700" cy="1172781"/>
          </a:xfrm>
          <a:prstGeom prst="curvedConnector3">
            <a:avLst>
              <a:gd name="adj1" fmla="val 228503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05096855-8785-4DA5-8BB7-944F0A8D6871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10800000" flipV="1">
            <a:off x="4708418" y="2927731"/>
            <a:ext cx="1251411" cy="2582584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EED2DB83-A008-4CDB-8501-2712FF281D36}"/>
              </a:ext>
            </a:extLst>
          </p:cNvPr>
          <p:cNvCxnSpPr>
            <a:stCxn id="8" idx="5"/>
            <a:endCxn id="11" idx="0"/>
          </p:cNvCxnSpPr>
          <p:nvPr/>
        </p:nvCxnSpPr>
        <p:spPr>
          <a:xfrm rot="5400000">
            <a:off x="5025749" y="4221326"/>
            <a:ext cx="2437987" cy="148223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CAAF33D-F5C9-4B19-9EB5-72B731A80CF4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776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{4, 6, 7}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0A17E76-B7D6-4AFA-BABF-526571464824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4600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{4, 6, 7}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7681E8D-A41C-4749-B2AA-321F679034D2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4928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</a:t>
            </a: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{6, 7}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C5745EB-46D7-477E-BA1A-DBFE9FBA0AD0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9898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{6, 7}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</a:t>
            </a:r>
            <a:r>
              <a:rPr lang="en-US" dirty="0"/>
              <a:t>: 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DBE0F0CA-FEED-4681-AC7B-C5C950D553C5}"/>
              </a:ext>
            </a:extLst>
          </p:cNvPr>
          <p:cNvCxnSpPr>
            <a:cxnSpLocks/>
            <a:stCxn id="9" idx="0"/>
            <a:endCxn id="3" idx="2"/>
          </p:cNvCxnSpPr>
          <p:nvPr/>
        </p:nvCxnSpPr>
        <p:spPr>
          <a:xfrm rot="5400000" flipH="1" flipV="1">
            <a:off x="3268791" y="2892290"/>
            <a:ext cx="1185388" cy="1256271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E8E3C2C4-45AE-4409-BC20-D055D1B04DF3}"/>
              </a:ext>
            </a:extLst>
          </p:cNvPr>
          <p:cNvCxnSpPr>
            <a:cxnSpLocks/>
            <a:stCxn id="9" idx="7"/>
            <a:endCxn id="14" idx="1"/>
          </p:cNvCxnSpPr>
          <p:nvPr/>
        </p:nvCxnSpPr>
        <p:spPr>
          <a:xfrm rot="16200000" flipH="1">
            <a:off x="6167893" y="1388887"/>
            <a:ext cx="869" cy="5572530"/>
          </a:xfrm>
          <a:prstGeom prst="curvedConnector3">
            <a:avLst>
              <a:gd name="adj1" fmla="val -33394591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BDD326A-FB2C-42F7-A7FE-70CADD743624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4658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{6, 7, </a:t>
            </a:r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</a:t>
            </a:r>
            <a:r>
              <a:rPr lang="en-US" dirty="0"/>
              <a:t>: 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DBE0F0CA-FEED-4681-AC7B-C5C950D553C5}"/>
              </a:ext>
            </a:extLst>
          </p:cNvPr>
          <p:cNvCxnSpPr>
            <a:cxnSpLocks/>
            <a:stCxn id="9" idx="0"/>
            <a:endCxn id="3" idx="2"/>
          </p:cNvCxnSpPr>
          <p:nvPr/>
        </p:nvCxnSpPr>
        <p:spPr>
          <a:xfrm rot="5400000" flipH="1" flipV="1">
            <a:off x="3268791" y="2892290"/>
            <a:ext cx="1185388" cy="1256271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E8E3C2C4-45AE-4409-BC20-D055D1B04DF3}"/>
              </a:ext>
            </a:extLst>
          </p:cNvPr>
          <p:cNvCxnSpPr>
            <a:cxnSpLocks/>
            <a:stCxn id="9" idx="7"/>
            <a:endCxn id="14" idx="1"/>
          </p:cNvCxnSpPr>
          <p:nvPr/>
        </p:nvCxnSpPr>
        <p:spPr>
          <a:xfrm rot="16200000" flipH="1">
            <a:off x="6167893" y="1388887"/>
            <a:ext cx="869" cy="5572530"/>
          </a:xfrm>
          <a:prstGeom prst="curvedConnector3">
            <a:avLst>
              <a:gd name="adj1" fmla="val -33394591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49E00C2-A1C6-4016-8922-B7C186D5F393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2592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{6, 7, 5}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65B633C-5C28-48AD-912E-862C629C8DC6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6609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{6, 7, 5}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D602B31-935D-4AC7-A6A8-CD957B7FD5D2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9001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</a:t>
            </a:r>
            <a:r>
              <a:rPr lang="en-US" dirty="0">
                <a:solidFill>
                  <a:srgbClr val="FF0000"/>
                </a:solidFill>
              </a:rPr>
              <a:t>6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{7, 5}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EFCC235-8CE5-42DA-8520-C0F7EC6433D0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3680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{7, 5}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7B7A3CBE-F1A4-4DAB-A492-67A8CF64F631}"/>
              </a:ext>
            </a:extLst>
          </p:cNvPr>
          <p:cNvCxnSpPr/>
          <p:nvPr/>
        </p:nvCxnSpPr>
        <p:spPr>
          <a:xfrm rot="5400000" flipH="1" flipV="1">
            <a:off x="4042830" y="3593318"/>
            <a:ext cx="2582584" cy="1251411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8FD62B25-B5AF-46CF-9DBD-D7357879033C}"/>
              </a:ext>
            </a:extLst>
          </p:cNvPr>
          <p:cNvCxnSpPr/>
          <p:nvPr/>
        </p:nvCxnSpPr>
        <p:spPr>
          <a:xfrm rot="16200000" flipH="1">
            <a:off x="5437465" y="4991579"/>
            <a:ext cx="4116" cy="1164787"/>
          </a:xfrm>
          <a:prstGeom prst="curvedConnector3">
            <a:avLst>
              <a:gd name="adj1" fmla="val -705051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5CA9DFA-AF61-440F-B29D-A4124704AA19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7281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{7, 5}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142A5E2-F670-4C18-9131-855A4D3B74CC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2013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{7, 5}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619C817-06BE-4933-9075-04D8AA9DAEE6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1299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</a:t>
            </a:r>
            <a:r>
              <a:rPr lang="en-US" dirty="0">
                <a:solidFill>
                  <a:srgbClr val="FF0000"/>
                </a:solidFill>
              </a:rPr>
              <a:t>7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{5}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DAC6E2F-67B4-4D23-83A7-03F326435B86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9838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{5}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7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97743C5E-6CFB-4CB8-8F19-C15C3075D04C}"/>
              </a:ext>
            </a:extLst>
          </p:cNvPr>
          <p:cNvCxnSpPr>
            <a:stCxn id="11" idx="1"/>
            <a:endCxn id="10" idx="7"/>
          </p:cNvCxnSpPr>
          <p:nvPr/>
        </p:nvCxnSpPr>
        <p:spPr>
          <a:xfrm rot="16200000" flipV="1">
            <a:off x="5437466" y="4991578"/>
            <a:ext cx="4116" cy="1164787"/>
          </a:xfrm>
          <a:prstGeom prst="curvedConnector3">
            <a:avLst>
              <a:gd name="adj1" fmla="val 715051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74DAF77-3540-4F80-BC46-8A57AD2E0641}"/>
              </a:ext>
            </a:extLst>
          </p:cNvPr>
          <p:cNvCxnSpPr>
            <a:cxnSpLocks/>
            <a:stCxn id="11" idx="1"/>
            <a:endCxn id="8" idx="3"/>
          </p:cNvCxnSpPr>
          <p:nvPr/>
        </p:nvCxnSpPr>
        <p:spPr>
          <a:xfrm rot="16200000" flipV="1">
            <a:off x="4771879" y="4325992"/>
            <a:ext cx="2499586" cy="490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0E031E-D537-455A-A992-D9A383E256E4}"/>
              </a:ext>
            </a:extLst>
          </p:cNvPr>
          <p:cNvCxnSpPr>
            <a:stCxn id="11" idx="0"/>
            <a:endCxn id="15" idx="2"/>
          </p:cNvCxnSpPr>
          <p:nvPr/>
        </p:nvCxnSpPr>
        <p:spPr>
          <a:xfrm flipV="1">
            <a:off x="6170630" y="2927986"/>
            <a:ext cx="1260150" cy="25864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E507B97-C632-4A73-85EC-CC41130ABD98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8206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{5,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7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97743C5E-6CFB-4CB8-8F19-C15C3075D04C}"/>
              </a:ext>
            </a:extLst>
          </p:cNvPr>
          <p:cNvCxnSpPr>
            <a:stCxn id="11" idx="1"/>
            <a:endCxn id="10" idx="7"/>
          </p:cNvCxnSpPr>
          <p:nvPr/>
        </p:nvCxnSpPr>
        <p:spPr>
          <a:xfrm rot="16200000" flipV="1">
            <a:off x="5437466" y="4991578"/>
            <a:ext cx="4116" cy="1164787"/>
          </a:xfrm>
          <a:prstGeom prst="curvedConnector3">
            <a:avLst>
              <a:gd name="adj1" fmla="val 715051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74DAF77-3540-4F80-BC46-8A57AD2E0641}"/>
              </a:ext>
            </a:extLst>
          </p:cNvPr>
          <p:cNvCxnSpPr>
            <a:stCxn id="11" idx="1"/>
            <a:endCxn id="8" idx="3"/>
          </p:cNvCxnSpPr>
          <p:nvPr/>
        </p:nvCxnSpPr>
        <p:spPr>
          <a:xfrm rot="16200000" flipV="1">
            <a:off x="4771879" y="4325992"/>
            <a:ext cx="2499586" cy="490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0E031E-D537-455A-A992-D9A383E256E4}"/>
              </a:ext>
            </a:extLst>
          </p:cNvPr>
          <p:cNvCxnSpPr>
            <a:stCxn id="11" idx="0"/>
            <a:endCxn id="15" idx="2"/>
          </p:cNvCxnSpPr>
          <p:nvPr/>
        </p:nvCxnSpPr>
        <p:spPr>
          <a:xfrm flipV="1">
            <a:off x="6170630" y="2927986"/>
            <a:ext cx="1260150" cy="25864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F8BF817-059D-42C4-A2AE-337A888A539E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7786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{5, 3}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7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EA7D3F3-2125-44BC-8064-01524C614747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6170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{5, 3}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E900337-7E9F-4C64-A1AA-9FEA662D8B21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3086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</a:t>
            </a:r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{3}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8BE1F8D-7582-4DA0-9B71-340A9607F367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9267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{3}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A4075F70-723B-4CE0-8B01-52B1A4367F1F}"/>
              </a:ext>
            </a:extLst>
          </p:cNvPr>
          <p:cNvCxnSpPr>
            <a:stCxn id="14" idx="1"/>
            <a:endCxn id="9" idx="7"/>
          </p:cNvCxnSpPr>
          <p:nvPr/>
        </p:nvCxnSpPr>
        <p:spPr>
          <a:xfrm rot="16200000" flipV="1">
            <a:off x="6167894" y="1388888"/>
            <a:ext cx="869" cy="5572530"/>
          </a:xfrm>
          <a:prstGeom prst="curvedConnector3">
            <a:avLst>
              <a:gd name="adj1" fmla="val 3349459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EB7E3B2B-75EF-4ED4-8FBB-A6384A436EA7}"/>
              </a:ext>
            </a:extLst>
          </p:cNvPr>
          <p:cNvCxnSpPr>
            <a:stCxn id="14" idx="4"/>
            <a:endCxn id="13" idx="6"/>
          </p:cNvCxnSpPr>
          <p:nvPr/>
        </p:nvCxnSpPr>
        <p:spPr>
          <a:xfrm rot="5400000">
            <a:off x="7888466" y="4505780"/>
            <a:ext cx="1186009" cy="124367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CA183C7-76AE-449B-A6DD-4F5115EF3F74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5486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{3, </a:t>
            </a:r>
            <a:r>
              <a:rPr lang="en-US" dirty="0">
                <a:solidFill>
                  <a:srgbClr val="FF0000"/>
                </a:solidFill>
              </a:rPr>
              <a:t>8</a:t>
            </a:r>
            <a:r>
              <a:rPr lang="en-US" dirty="0"/>
              <a:t>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A4075F70-723B-4CE0-8B01-52B1A4367F1F}"/>
              </a:ext>
            </a:extLst>
          </p:cNvPr>
          <p:cNvCxnSpPr>
            <a:stCxn id="14" idx="1"/>
            <a:endCxn id="9" idx="7"/>
          </p:cNvCxnSpPr>
          <p:nvPr/>
        </p:nvCxnSpPr>
        <p:spPr>
          <a:xfrm rot="16200000" flipV="1">
            <a:off x="6167894" y="1388888"/>
            <a:ext cx="869" cy="5572530"/>
          </a:xfrm>
          <a:prstGeom prst="curvedConnector3">
            <a:avLst>
              <a:gd name="adj1" fmla="val 3349459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EB7E3B2B-75EF-4ED4-8FBB-A6384A436EA7}"/>
              </a:ext>
            </a:extLst>
          </p:cNvPr>
          <p:cNvCxnSpPr>
            <a:stCxn id="14" idx="4"/>
            <a:endCxn id="13" idx="6"/>
          </p:cNvCxnSpPr>
          <p:nvPr/>
        </p:nvCxnSpPr>
        <p:spPr>
          <a:xfrm rot="5400000">
            <a:off x="7888466" y="4505780"/>
            <a:ext cx="1186009" cy="124367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DF99CCF-A3BD-4C96-8B86-5603E3A88BE5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170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{3, 8}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9A7AC32-FE51-488E-92EE-8DCD7D516F13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442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{3, 8}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1756774-A032-4A86-B0C4-C623A5C21501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0068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{8}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D9F0D89-6576-4788-90B5-45CB7B49CF83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8766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3}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{8}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AF1C61EA-0D15-4AA8-AA30-287E2F80A4DA}"/>
              </a:ext>
            </a:extLst>
          </p:cNvPr>
          <p:cNvCxnSpPr>
            <a:cxnSpLocks/>
            <a:stCxn id="15" idx="2"/>
            <a:endCxn id="11" idx="0"/>
          </p:cNvCxnSpPr>
          <p:nvPr/>
        </p:nvCxnSpPr>
        <p:spPr>
          <a:xfrm rot="10800000" flipV="1">
            <a:off x="6170630" y="2927985"/>
            <a:ext cx="1260150" cy="2586445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18F3966-9DB1-4F8D-B752-56BF8E8E905C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5216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3}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{8}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37FD4B9-68E3-4A8E-B9B4-452E9E1E1795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8132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3}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{8}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C657CCB-D76E-422A-B2B6-98BDEF174068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6233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3, </a:t>
            </a:r>
            <a:r>
              <a:rPr lang="en-US" dirty="0">
                <a:solidFill>
                  <a:srgbClr val="FF0000"/>
                </a:solidFill>
              </a:rPr>
              <a:t>8</a:t>
            </a:r>
            <a:r>
              <a:rPr lang="en-US" dirty="0"/>
              <a:t>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7BD3D32-9D71-454C-B916-8D4C30934EA4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176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3, 8}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8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7C4661A6-9B01-4815-B072-C011994CD311}"/>
              </a:ext>
            </a:extLst>
          </p:cNvPr>
          <p:cNvCxnSpPr>
            <a:stCxn id="13" idx="6"/>
            <a:endCxn id="14" idx="5"/>
          </p:cNvCxnSpPr>
          <p:nvPr/>
        </p:nvCxnSpPr>
        <p:spPr>
          <a:xfrm flipV="1">
            <a:off x="7859634" y="4473013"/>
            <a:ext cx="1392385" cy="1247608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656B5AD-931C-41BE-ABF8-80A4FDDDB0E7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6872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3, 8}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8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7508369-F346-4843-A217-1D8A5311513F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8462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3, 8}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6B00D4A-4AB7-4B3D-BC23-17B869BB3848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8668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628C0EB-7E6B-42C2-B47C-FD13658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Посещенные вершины </a:t>
            </a:r>
            <a:r>
              <a:rPr lang="en-US" dirty="0"/>
              <a:t>: {1, 2, 4, 6, 7, 5, 3, 8}</a:t>
            </a:r>
            <a:br>
              <a:rPr lang="en-US" dirty="0"/>
            </a:br>
            <a:r>
              <a:rPr lang="ru-RU" dirty="0"/>
              <a:t>Очередь </a:t>
            </a:r>
            <a:r>
              <a:rPr lang="en-US" dirty="0"/>
              <a:t>: {}</a:t>
            </a:r>
            <a:endParaRPr lang="hy-AM" dirty="0"/>
          </a:p>
          <a:p>
            <a:pPr marL="0" indent="0">
              <a:buNone/>
            </a:pPr>
            <a:r>
              <a:rPr lang="ru-RU" dirty="0"/>
              <a:t>Текущая вершина </a:t>
            </a:r>
            <a:r>
              <a:rPr lang="en-US" dirty="0"/>
              <a:t>: -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EBFCB-52C7-4AA8-AE39-83F8379EDB18}"/>
              </a:ext>
            </a:extLst>
          </p:cNvPr>
          <p:cNvSpPr/>
          <p:nvPr/>
        </p:nvSpPr>
        <p:spPr>
          <a:xfrm>
            <a:off x="4489621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FBB764-2484-41C7-BF5A-FA89F70CDF70}"/>
              </a:ext>
            </a:extLst>
          </p:cNvPr>
          <p:cNvSpPr/>
          <p:nvPr/>
        </p:nvSpPr>
        <p:spPr>
          <a:xfrm>
            <a:off x="5959828" y="27174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E310B-498C-4EEA-AA94-C2510818E0DE}"/>
              </a:ext>
            </a:extLst>
          </p:cNvPr>
          <p:cNvSpPr/>
          <p:nvPr/>
        </p:nvSpPr>
        <p:spPr>
          <a:xfrm>
            <a:off x="3023038" y="411311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DD3025-1B54-4DE0-BB42-9BD717139587}"/>
              </a:ext>
            </a:extLst>
          </p:cNvPr>
          <p:cNvSpPr/>
          <p:nvPr/>
        </p:nvSpPr>
        <p:spPr>
          <a:xfrm>
            <a:off x="4498105" y="5510315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118D9D-D45A-45AF-A15A-18BF20C74818}"/>
              </a:ext>
            </a:extLst>
          </p:cNvPr>
          <p:cNvSpPr/>
          <p:nvPr/>
        </p:nvSpPr>
        <p:spPr>
          <a:xfrm>
            <a:off x="5960318" y="5514431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D0AA00-C925-4638-B355-987945E9640A}"/>
              </a:ext>
            </a:extLst>
          </p:cNvPr>
          <p:cNvSpPr/>
          <p:nvPr/>
        </p:nvSpPr>
        <p:spPr>
          <a:xfrm>
            <a:off x="7439010" y="5510309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AA33BA-3C80-4EDC-AC38-48B6DBC57281}"/>
              </a:ext>
            </a:extLst>
          </p:cNvPr>
          <p:cNvSpPr/>
          <p:nvPr/>
        </p:nvSpPr>
        <p:spPr>
          <a:xfrm>
            <a:off x="8892994" y="4113988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063DC1-BC7D-49E0-AA26-5AC23BE77FC5}"/>
              </a:ext>
            </a:extLst>
          </p:cNvPr>
          <p:cNvSpPr/>
          <p:nvPr/>
        </p:nvSpPr>
        <p:spPr>
          <a:xfrm>
            <a:off x="7430780" y="2717674"/>
            <a:ext cx="420624" cy="4206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24A1FB-EE0C-4983-BDA9-A6C4E13C50F9}"/>
              </a:ext>
            </a:extLst>
          </p:cNvPr>
          <p:cNvCxnSpPr>
            <a:cxnSpLocks/>
            <a:stCxn id="9" idx="7"/>
            <a:endCxn id="3" idx="3"/>
          </p:cNvCxnSpPr>
          <p:nvPr/>
        </p:nvCxnSpPr>
        <p:spPr>
          <a:xfrm flipV="1">
            <a:off x="3382063" y="3076444"/>
            <a:ext cx="1169157" cy="10982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840926-DFF1-46B7-AAAE-43341960836F}"/>
              </a:ext>
            </a:extLst>
          </p:cNvPr>
          <p:cNvCxnSpPr>
            <a:stCxn id="9" idx="6"/>
            <a:endCxn id="14" idx="2"/>
          </p:cNvCxnSpPr>
          <p:nvPr/>
        </p:nvCxnSpPr>
        <p:spPr>
          <a:xfrm>
            <a:off x="3443662" y="4323431"/>
            <a:ext cx="5449332" cy="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F8447E-6693-43FC-9DCC-77DE6E14B5AD}"/>
              </a:ext>
            </a:extLst>
          </p:cNvPr>
          <p:cNvCxnSpPr>
            <a:stCxn id="3" idx="6"/>
            <a:endCxn id="8" idx="2"/>
          </p:cNvCxnSpPr>
          <p:nvPr/>
        </p:nvCxnSpPr>
        <p:spPr>
          <a:xfrm>
            <a:off x="4910245" y="2927731"/>
            <a:ext cx="10495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5561E0-C7D0-4C80-A8EC-3CEF396F58E9}"/>
              </a:ext>
            </a:extLst>
          </p:cNvPr>
          <p:cNvCxnSpPr>
            <a:stCxn id="8" idx="4"/>
            <a:endCxn id="11" idx="0"/>
          </p:cNvCxnSpPr>
          <p:nvPr/>
        </p:nvCxnSpPr>
        <p:spPr>
          <a:xfrm>
            <a:off x="6170140" y="3138043"/>
            <a:ext cx="490" cy="23763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B6B630-3617-4CC1-AC00-072C0170B6E2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4857130" y="3076444"/>
            <a:ext cx="1164297" cy="2495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5C98B1-7BAF-4EF9-868F-167AE560C912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4918729" y="5720627"/>
            <a:ext cx="1041589" cy="411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A015C2-4757-4B61-8876-C0A3C16F3AC6}"/>
              </a:ext>
            </a:extLst>
          </p:cNvPr>
          <p:cNvCxnSpPr>
            <a:stCxn id="11" idx="7"/>
            <a:endCxn id="15" idx="3"/>
          </p:cNvCxnSpPr>
          <p:nvPr/>
        </p:nvCxnSpPr>
        <p:spPr>
          <a:xfrm flipV="1">
            <a:off x="6319343" y="3076699"/>
            <a:ext cx="1173036" cy="24993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0485C6-5606-4DA3-9A5E-61FB19D22019}"/>
              </a:ext>
            </a:extLst>
          </p:cNvPr>
          <p:cNvCxnSpPr>
            <a:stCxn id="14" idx="3"/>
            <a:endCxn id="13" idx="7"/>
          </p:cNvCxnSpPr>
          <p:nvPr/>
        </p:nvCxnSpPr>
        <p:spPr>
          <a:xfrm flipH="1">
            <a:off x="7798035" y="4473013"/>
            <a:ext cx="1156558" cy="1098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4352CB2-5AAF-4EF4-B2D0-9B148336FEC4}"/>
              </a:ext>
            </a:extLst>
          </p:cNvPr>
          <p:cNvSpPr txBox="1"/>
          <p:nvPr/>
        </p:nvSpPr>
        <p:spPr>
          <a:xfrm>
            <a:off x="8146630" y="1185859"/>
            <a:ext cx="3907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Легенда</a:t>
            </a:r>
            <a:r>
              <a:rPr lang="en-US" dirty="0"/>
              <a:t>:</a:t>
            </a:r>
          </a:p>
          <a:p>
            <a:r>
              <a:rPr lang="ru-RU" dirty="0">
                <a:solidFill>
                  <a:schemeClr val="accent6"/>
                </a:solidFill>
              </a:rPr>
              <a:t>Зеленый</a:t>
            </a:r>
            <a:r>
              <a:rPr lang="en-US" dirty="0"/>
              <a:t> </a:t>
            </a:r>
            <a:r>
              <a:rPr lang="ru-RU" dirty="0"/>
              <a:t>вершины не посещены</a:t>
            </a:r>
          </a:p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Серый</a:t>
            </a:r>
            <a:r>
              <a:rPr lang="en-US" dirty="0"/>
              <a:t> </a:t>
            </a:r>
            <a:r>
              <a:rPr lang="ru-RU" dirty="0"/>
              <a:t>вершины в очереди</a:t>
            </a:r>
          </a:p>
          <a:p>
            <a:r>
              <a:rPr lang="ru-RU" dirty="0"/>
              <a:t>Черный вершины посещаются</a:t>
            </a:r>
          </a:p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Оранжевый</a:t>
            </a:r>
            <a:r>
              <a:rPr lang="en-US" dirty="0"/>
              <a:t> </a:t>
            </a:r>
            <a:r>
              <a:rPr lang="ru-RU" dirty="0"/>
              <a:t>вершина является текущей вершиной</a:t>
            </a:r>
            <a:endParaRPr lang="hy-AM" dirty="0"/>
          </a:p>
          <a:p>
            <a:r>
              <a:rPr lang="ru-RU" dirty="0">
                <a:solidFill>
                  <a:srgbClr val="0070C0"/>
                </a:solidFill>
              </a:rPr>
              <a:t>Голубой</a:t>
            </a:r>
            <a:r>
              <a:rPr lang="en-US" dirty="0"/>
              <a:t> </a:t>
            </a:r>
            <a:r>
              <a:rPr lang="ru-RU" dirty="0"/>
              <a:t>стрелки пути по которому мы идем</a:t>
            </a:r>
          </a:p>
          <a:p>
            <a:r>
              <a:rPr lang="ru-RU" dirty="0">
                <a:solidFill>
                  <a:srgbClr val="FF0000"/>
                </a:solidFill>
              </a:rPr>
              <a:t>Красный</a:t>
            </a:r>
            <a:r>
              <a:rPr lang="en-US" dirty="0"/>
              <a:t> </a:t>
            </a:r>
            <a:r>
              <a:rPr lang="ru-RU" dirty="0"/>
              <a:t>стрелки - это направление, в котором мы не можем идти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5604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789C-6EED-485E-961D-8D2D6691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5628C0EB-7E6B-42C2-B47C-FD13658B38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sz="2400" dirty="0"/>
                  <a:t>Сложность </a:t>
                </a:r>
                <a:r>
                  <a:rPr lang="en-US" sz="2400" dirty="0"/>
                  <a:t>:</a:t>
                </a:r>
                <a:endParaRPr lang="ru-RU" sz="2400" dirty="0"/>
              </a:p>
              <a:p>
                <a:endParaRPr lang="en-US" sz="2400" dirty="0"/>
              </a:p>
              <a:p>
                <a:pPr lvl="1"/>
                <a:r>
                  <a:rPr lang="en-US" dirty="0"/>
                  <a:t>BFS </a:t>
                </a:r>
                <a:r>
                  <a:rPr lang="ru-RU" dirty="0"/>
                  <a:t>отмечает каждый узел, посещенный только один раз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BFS </a:t>
                </a:r>
                <a:r>
                  <a:rPr lang="ru-RU" dirty="0"/>
                  <a:t>проверить каждое ребро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ru-RU" dirty="0"/>
                  <a:t>Также</a:t>
                </a:r>
                <a:r>
                  <a:rPr lang="en-US" dirty="0"/>
                  <a:t> </a:t>
                </a:r>
                <a:r>
                  <a:rPr lang="en-US" b="1" i="1" dirty="0"/>
                  <a:t>O(|V| + |E|) </a:t>
                </a:r>
                <a:r>
                  <a:rPr lang="ru-RU" dirty="0"/>
                  <a:t>если мы используем список соединений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ru-RU" dirty="0"/>
                  <a:t>И</a:t>
                </a:r>
                <a:r>
                  <a:rPr lang="en-US" dirty="0"/>
                  <a:t> </a:t>
                </a:r>
                <a:r>
                  <a:rPr lang="en-US" b="1" i="1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1" i="1" dirty="0"/>
                          <m:t>|</m:t>
                        </m:r>
                        <m:r>
                          <m:rPr>
                            <m:nor/>
                          </m:rPr>
                          <a:rPr lang="en-US" b="1" i="1" dirty="0"/>
                          <m:t>V</m:t>
                        </m:r>
                        <m:r>
                          <m:rPr>
                            <m:nor/>
                          </m:rPr>
                          <a:rPr lang="en-US" b="1" i="1" dirty="0"/>
                          <m:t>|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i="1" dirty="0"/>
                  <a:t>) </a:t>
                </a:r>
                <a:r>
                  <a:rPr lang="ru-RU" dirty="0"/>
                  <a:t>если мы используем матрицу смежности (потому что нам нужно найти каждое ребро, поэтому нужно перебрать всю матрицу</a:t>
                </a:r>
                <a:r>
                  <a:rPr lang="en-US" dirty="0"/>
                  <a:t>).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5628C0EB-7E6B-42C2-B47C-FD13658B38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16739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4384</Words>
  <Application>Microsoft Office PowerPoint</Application>
  <PresentationFormat>Широкоэкранный</PresentationFormat>
  <Paragraphs>1231</Paragraphs>
  <Slides>59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59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Times New Roman</vt:lpstr>
      <vt:lpstr>Wingdings</vt:lpstr>
      <vt:lpstr>Тема Office</vt:lpstr>
      <vt:lpstr>Графы</vt:lpstr>
      <vt:lpstr>Что такое граф?</vt:lpstr>
      <vt:lpstr>Что такое граф?</vt:lpstr>
      <vt:lpstr>Что такое граф?</vt:lpstr>
      <vt:lpstr>Что такое граф? Типы графов</vt:lpstr>
      <vt:lpstr>Презентация PowerPoint</vt:lpstr>
      <vt:lpstr>Что такое граф? Терминология</vt:lpstr>
      <vt:lpstr>Что такое граф? Лемма о рукопожатии</vt:lpstr>
      <vt:lpstr>Что такое граф? Терминология</vt:lpstr>
      <vt:lpstr>Графическое представление</vt:lpstr>
      <vt:lpstr>Что такое граф? Представление</vt:lpstr>
      <vt:lpstr>Что такое граф? Представление. Список ребер</vt:lpstr>
      <vt:lpstr>Что такое граф? Представление: Список смежности</vt:lpstr>
      <vt:lpstr>Что такое граф? Представление։ Матрица смежности</vt:lpstr>
      <vt:lpstr>Что такое граф? Представление. Ориентированный граф</vt:lpstr>
      <vt:lpstr>Что такое граф? Представление։ Матрица инцидентности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  <vt:lpstr>Breadth First Search (BFS)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graph?</dc:title>
  <dc:creator>Levonog</dc:creator>
  <cp:lastModifiedBy>ФИТ</cp:lastModifiedBy>
  <cp:revision>28</cp:revision>
  <dcterms:created xsi:type="dcterms:W3CDTF">2021-07-10T19:33:53Z</dcterms:created>
  <dcterms:modified xsi:type="dcterms:W3CDTF">2026-09-03T09:44:32Z</dcterms:modified>
</cp:coreProperties>
</file>